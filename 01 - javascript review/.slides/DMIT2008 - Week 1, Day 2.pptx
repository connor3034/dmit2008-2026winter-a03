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Roboto Slab"/>
      <p:regular r:id="rId20"/>
      <p:bold r:id="rId21"/>
    </p:embeddedFont>
    <p:embeddedFont>
      <p:font typeface="Roboto"/>
      <p:regular r:id="rId22"/>
      <p:bold r:id="rId23"/>
      <p:italic r:id="rId24"/>
      <p:bold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Slab-regular.fntdata"/><Relationship Id="rId22" Type="http://schemas.openxmlformats.org/officeDocument/2006/relationships/font" Target="fonts/Roboto-regular.fntdata"/><Relationship Id="rId21" Type="http://schemas.openxmlformats.org/officeDocument/2006/relationships/font" Target="fonts/RobotoSlab-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regular.fntdata"/><Relationship Id="rId25" Type="http://schemas.openxmlformats.org/officeDocument/2006/relationships/font" Target="fonts/Roboto-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ad3a4879e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ad3a4879e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141908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141908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c259f0d0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7c259f0d0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c259f0d0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c259f0d0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7c259f0d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7c259f0d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c259f0d0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c259f0d0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e7155068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e7155068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2e7155068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2e7155068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e7155068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e7155068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e7155068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e7155068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e7155068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e7155068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7c259f0d0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7c259f0d0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7b72d3eb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7b72d3eb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7b72d3eb4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7b72d3eb4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en.wikipedia.org/wiki/ECMAScrip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jsbin.com/vamulax/1/edit?js,consol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developer.mozilla.org/en-US/docs/Web/JavaScript/Guide/Expressions_and_Operators#comparison_operators" TargetMode="External"/><Relationship Id="rId4" Type="http://schemas.openxmlformats.org/officeDocument/2006/relationships/hyperlink" Target="https://jsbin.com/jizecax/edit?js,consol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flukeout.github.i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jsbin.com/ziwopol/edit?js,consol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exploringjs.com/es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Advanced </a:t>
            </a:r>
            <a:r>
              <a:rPr lang="en"/>
              <a:t>Javascript</a:t>
            </a:r>
            <a:endParaRPr/>
          </a:p>
          <a:p>
            <a:pPr indent="0" lvl="0" marL="0" rtl="0" algn="ctr">
              <a:spcBef>
                <a:spcPts val="0"/>
              </a:spcBef>
              <a:spcAft>
                <a:spcPts val="0"/>
              </a:spcAft>
              <a:buNone/>
            </a:pPr>
            <a:r>
              <a:rPr lang="en"/>
              <a:t>ES5, ES6 and Review</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Javascript DMIT 2008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48400" y="1440025"/>
            <a:ext cx="4045200" cy="150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are we?</a:t>
            </a:r>
            <a:endParaRPr/>
          </a:p>
        </p:txBody>
      </p:sp>
      <p:sp>
        <p:nvSpPr>
          <p:cNvPr id="75" name="Google Shape;75;p15"/>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lang="en"/>
              <a:t>Expectations</a:t>
            </a:r>
            <a:endParaRPr/>
          </a:p>
          <a:p>
            <a:pPr indent="-342900" lvl="0" marL="457200" rtl="0" algn="l">
              <a:spcBef>
                <a:spcPts val="0"/>
              </a:spcBef>
              <a:spcAft>
                <a:spcPts val="0"/>
              </a:spcAft>
              <a:buSzPts val="1800"/>
              <a:buAutoNum type="arabicPeriod"/>
            </a:pPr>
            <a:r>
              <a:rPr lang="en"/>
              <a:t>ES5 vs Newer versions of ECMA Script</a:t>
            </a:r>
            <a:endParaRPr/>
          </a:p>
          <a:p>
            <a:pPr indent="-342900" lvl="0" marL="457200" rtl="0" algn="l">
              <a:spcBef>
                <a:spcPts val="0"/>
              </a:spcBef>
              <a:spcAft>
                <a:spcPts val="0"/>
              </a:spcAft>
              <a:buSzPts val="1800"/>
              <a:buAutoNum type="arabicPeriod"/>
            </a:pPr>
            <a:r>
              <a:rPr lang="en"/>
              <a:t>Review</a:t>
            </a:r>
            <a:endParaRPr/>
          </a:p>
          <a:p>
            <a:pPr indent="-317500" lvl="1" marL="914400" rtl="0" algn="l">
              <a:spcBef>
                <a:spcPts val="0"/>
              </a:spcBef>
              <a:spcAft>
                <a:spcPts val="0"/>
              </a:spcAft>
              <a:buSzPts val="1400"/>
              <a:buAutoNum type="alphaLcPeriod"/>
            </a:pPr>
            <a:r>
              <a:rPr lang="en"/>
              <a:t>Variables and block scoping</a:t>
            </a:r>
            <a:endParaRPr/>
          </a:p>
          <a:p>
            <a:pPr indent="-317500" lvl="1" marL="914400" rtl="0" algn="l">
              <a:spcBef>
                <a:spcPts val="0"/>
              </a:spcBef>
              <a:spcAft>
                <a:spcPts val="0"/>
              </a:spcAft>
              <a:buSzPts val="1400"/>
              <a:buAutoNum type="alphaLcPeriod"/>
            </a:pPr>
            <a:r>
              <a:rPr lang="en"/>
              <a:t>Functions</a:t>
            </a:r>
            <a:endParaRPr/>
          </a:p>
          <a:p>
            <a:pPr indent="-317500" lvl="1" marL="914400" rtl="0" algn="l">
              <a:spcBef>
                <a:spcPts val="0"/>
              </a:spcBef>
              <a:spcAft>
                <a:spcPts val="0"/>
              </a:spcAft>
              <a:buSzPts val="1400"/>
              <a:buAutoNum type="alphaLcPeriod"/>
            </a:pPr>
            <a:r>
              <a:rPr lang="en"/>
              <a:t>If statements</a:t>
            </a:r>
            <a:endParaRPr/>
          </a:p>
          <a:p>
            <a:pPr indent="-317500" lvl="1" marL="914400" rtl="0" algn="l">
              <a:spcBef>
                <a:spcPts val="0"/>
              </a:spcBef>
              <a:spcAft>
                <a:spcPts val="0"/>
              </a:spcAft>
              <a:buSzPts val="1400"/>
              <a:buAutoNum type="alphaLcPeriod"/>
            </a:pPr>
            <a:r>
              <a:rPr lang="en"/>
              <a:t>Dom API</a:t>
            </a:r>
            <a:endParaRPr/>
          </a:p>
          <a:p>
            <a:pPr indent="-317500" lvl="1" marL="914400" rtl="0" algn="l">
              <a:spcBef>
                <a:spcPts val="0"/>
              </a:spcBef>
              <a:spcAft>
                <a:spcPts val="0"/>
              </a:spcAft>
              <a:buSzPts val="1400"/>
              <a:buAutoNum type="alphaLcPeriod"/>
            </a:pPr>
            <a:r>
              <a:rPr lang="en"/>
              <a:t>Events</a:t>
            </a:r>
            <a:endParaRPr/>
          </a:p>
          <a:p>
            <a:pPr indent="-317500" lvl="1" marL="914400" rtl="0" algn="l">
              <a:spcBef>
                <a:spcPts val="0"/>
              </a:spcBef>
              <a:spcAft>
                <a:spcPts val="0"/>
              </a:spcAft>
              <a:buSzPts val="1400"/>
              <a:buAutoNum type="alphaLcPeriod"/>
            </a:pPr>
            <a:r>
              <a:rPr lang="en"/>
              <a:t>Arrays and loops</a:t>
            </a:r>
            <a:endParaRPr/>
          </a:p>
          <a:p>
            <a:pPr indent="-342900" lvl="0" marL="457200" rtl="0" algn="l">
              <a:spcBef>
                <a:spcPts val="0"/>
              </a:spcBef>
              <a:spcAft>
                <a:spcPts val="0"/>
              </a:spcAft>
              <a:buSzPts val="1800"/>
              <a:buAutoNum type="arabicPeriod"/>
            </a:pPr>
            <a:r>
              <a:rPr lang="en"/>
              <a:t>Extra Note - ES6 IIFE</a:t>
            </a:r>
            <a:endParaRPr/>
          </a:p>
          <a:p>
            <a:pPr indent="0" lvl="0" marL="45720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Expectations - What I expect from you</a:t>
            </a:r>
            <a:endParaRPr/>
          </a:p>
        </p:txBody>
      </p:sp>
      <p:sp>
        <p:nvSpPr>
          <p:cNvPr id="81" name="Google Shape;81;p1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No Late Assignments</a:t>
            </a:r>
            <a:endParaRPr/>
          </a:p>
          <a:p>
            <a:pPr indent="-342900" lvl="0" marL="457200" rtl="0" algn="l">
              <a:spcBef>
                <a:spcPts val="0"/>
              </a:spcBef>
              <a:spcAft>
                <a:spcPts val="0"/>
              </a:spcAft>
              <a:buSzPts val="1800"/>
              <a:buAutoNum type="arabicPeriod"/>
            </a:pPr>
            <a:r>
              <a:rPr lang="en"/>
              <a:t>No Cheating</a:t>
            </a:r>
            <a:endParaRPr/>
          </a:p>
          <a:p>
            <a:pPr indent="-342900" lvl="0" marL="457200" rtl="0" algn="l">
              <a:spcBef>
                <a:spcPts val="0"/>
              </a:spcBef>
              <a:spcAft>
                <a:spcPts val="0"/>
              </a:spcAft>
              <a:buSzPts val="1800"/>
              <a:buAutoNum type="arabicPeriod"/>
            </a:pPr>
            <a:r>
              <a:rPr lang="en"/>
              <a:t>Be a good classmate</a:t>
            </a:r>
            <a:endParaRPr/>
          </a:p>
          <a:p>
            <a:pPr indent="-342900" lvl="0" marL="457200" rtl="0" algn="l">
              <a:spcBef>
                <a:spcPts val="0"/>
              </a:spcBef>
              <a:spcAft>
                <a:spcPts val="0"/>
              </a:spcAft>
              <a:buSzPts val="1800"/>
              <a:buAutoNum type="arabicPeriod"/>
            </a:pPr>
            <a:r>
              <a:rPr lang="en"/>
              <a:t>Don’t go to stupid sites in class </a:t>
            </a:r>
            <a:endParaRPr/>
          </a:p>
          <a:p>
            <a:pPr indent="-342900" lvl="0" marL="457200" rtl="0" algn="l">
              <a:spcBef>
                <a:spcPts val="0"/>
              </a:spcBef>
              <a:spcAft>
                <a:spcPts val="0"/>
              </a:spcAft>
              <a:buSzPts val="1800"/>
              <a:buAutoNum type="arabicPeriod"/>
            </a:pPr>
            <a:r>
              <a:rPr lang="en"/>
              <a:t>Show up to class </a:t>
            </a:r>
            <a:br>
              <a:rPr lang="en"/>
            </a:br>
            <a:r>
              <a:rPr lang="en"/>
              <a:t>(10 mins I shut the door. Send me a message if you show up all the time or if you get in an accident and I’ll let you 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ES5 vs Newer versions of ECMAScript </a:t>
            </a:r>
            <a:endParaRPr/>
          </a:p>
        </p:txBody>
      </p:sp>
      <p:sp>
        <p:nvSpPr>
          <p:cNvPr id="87" name="Google Shape;87;p17"/>
          <p:cNvSpPr txBox="1"/>
          <p:nvPr>
            <p:ph idx="1" type="body"/>
          </p:nvPr>
        </p:nvSpPr>
        <p:spPr>
          <a:xfrm>
            <a:off x="387900" y="11850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ES5 is an older version of javascript that has less features that we’ll be using in the Javascript we’ll be writing.</a:t>
            </a:r>
            <a:endParaRPr sz="1400"/>
          </a:p>
          <a:p>
            <a:pPr indent="0" lvl="0" marL="0" rtl="0" algn="l">
              <a:spcBef>
                <a:spcPts val="1600"/>
              </a:spcBef>
              <a:spcAft>
                <a:spcPts val="0"/>
              </a:spcAft>
              <a:buNone/>
            </a:pPr>
            <a:r>
              <a:rPr lang="en" sz="1400"/>
              <a:t>We’ll be using language features and techniques from the newer standard named </a:t>
            </a:r>
            <a:r>
              <a:rPr lang="en" sz="1400" u="sng">
                <a:solidFill>
                  <a:schemeClr val="hlink"/>
                </a:solidFill>
                <a:hlinkClick r:id="rId3"/>
              </a:rPr>
              <a:t>ECMA Script</a:t>
            </a:r>
            <a:r>
              <a:rPr lang="en" sz="1400"/>
              <a:t>, which is the standard that browsers implement so that as a developer you have a consistent way to write JavaScript across browsers.</a:t>
            </a:r>
            <a:endParaRPr sz="1400"/>
          </a:p>
          <a:p>
            <a:pPr indent="0" lvl="0" marL="0" rtl="0" algn="l">
              <a:spcBef>
                <a:spcPts val="1600"/>
              </a:spcBef>
              <a:spcAft>
                <a:spcPts val="0"/>
              </a:spcAft>
              <a:buNone/>
            </a:pPr>
            <a:r>
              <a:rPr lang="en" sz="1400"/>
              <a:t>If you ever hear the terms ES6, ES7 … to ES12 or ES2021 this is exactly what people are referring to.</a:t>
            </a:r>
            <a:endParaRPr sz="1400"/>
          </a:p>
          <a:p>
            <a:pPr indent="0" lvl="0" marL="0" rtl="0" algn="l">
              <a:spcBef>
                <a:spcPts val="1600"/>
              </a:spcBef>
              <a:spcAft>
                <a:spcPts val="0"/>
              </a:spcAft>
              <a:buNone/>
            </a:pPr>
            <a:r>
              <a:rPr lang="en" sz="1400"/>
              <a:t>Let’s take a look at the wiki page linked above to see the newer language features of JavaScript.</a:t>
            </a:r>
            <a:endParaRPr sz="1400"/>
          </a:p>
          <a:p>
            <a:pPr indent="0" lvl="0" marL="0" rtl="0" algn="l">
              <a:spcBef>
                <a:spcPts val="1600"/>
              </a:spcBef>
              <a:spcAft>
                <a:spcPts val="160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a:t>
            </a:r>
            <a:endParaRPr/>
          </a:p>
        </p:txBody>
      </p:sp>
      <p:sp>
        <p:nvSpPr>
          <p:cNvPr id="93" name="Google Shape;93;p18"/>
          <p:cNvSpPr txBox="1"/>
          <p:nvPr>
            <p:ph idx="1" type="body"/>
          </p:nvPr>
        </p:nvSpPr>
        <p:spPr>
          <a:xfrm>
            <a:off x="387900" y="123649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This course is going to move fast. We’re going to do review this class and the next but there is an expectation that you will understand how this works, or that you will catch up on these topics.</a:t>
            </a:r>
            <a:endParaRPr sz="1300"/>
          </a:p>
          <a:p>
            <a:pPr indent="-311150" lvl="0" marL="457200" rtl="0" algn="l">
              <a:spcBef>
                <a:spcPts val="1600"/>
              </a:spcBef>
              <a:spcAft>
                <a:spcPts val="0"/>
              </a:spcAft>
              <a:buSzPts val="1300"/>
              <a:buChar char="●"/>
            </a:pPr>
            <a:r>
              <a:rPr lang="en" sz="1300"/>
              <a:t>This class we’ll review</a:t>
            </a:r>
            <a:endParaRPr sz="1300"/>
          </a:p>
          <a:p>
            <a:pPr indent="-311150" lvl="1" marL="914400" rtl="0" algn="l">
              <a:spcBef>
                <a:spcPts val="0"/>
              </a:spcBef>
              <a:spcAft>
                <a:spcPts val="0"/>
              </a:spcAft>
              <a:buSzPts val="1300"/>
              <a:buChar char="○"/>
            </a:pPr>
            <a:r>
              <a:rPr lang="en" sz="1300"/>
              <a:t>Variables and block scoping</a:t>
            </a:r>
            <a:endParaRPr sz="1300"/>
          </a:p>
          <a:p>
            <a:pPr indent="-311150" lvl="1" marL="914400" rtl="0" algn="l">
              <a:spcBef>
                <a:spcPts val="0"/>
              </a:spcBef>
              <a:spcAft>
                <a:spcPts val="0"/>
              </a:spcAft>
              <a:buSzPts val="1300"/>
              <a:buChar char="○"/>
            </a:pPr>
            <a:r>
              <a:rPr lang="en" sz="1300"/>
              <a:t>Functions</a:t>
            </a:r>
            <a:endParaRPr sz="1300"/>
          </a:p>
          <a:p>
            <a:pPr indent="-311150" lvl="1" marL="914400" rtl="0" algn="l">
              <a:spcBef>
                <a:spcPts val="0"/>
              </a:spcBef>
              <a:spcAft>
                <a:spcPts val="0"/>
              </a:spcAft>
              <a:buSzPts val="1300"/>
              <a:buChar char="○"/>
            </a:pPr>
            <a:r>
              <a:rPr lang="en" sz="1300"/>
              <a:t>If statements</a:t>
            </a:r>
            <a:endParaRPr sz="1300"/>
          </a:p>
          <a:p>
            <a:pPr indent="-311150" lvl="1" marL="914400" rtl="0" algn="l">
              <a:spcBef>
                <a:spcPts val="0"/>
              </a:spcBef>
              <a:spcAft>
                <a:spcPts val="0"/>
              </a:spcAft>
              <a:buSzPts val="1300"/>
              <a:buChar char="○"/>
            </a:pPr>
            <a:r>
              <a:rPr lang="en" sz="1300"/>
              <a:t>Dom API</a:t>
            </a:r>
            <a:endParaRPr sz="1300"/>
          </a:p>
          <a:p>
            <a:pPr indent="-311150" lvl="1" marL="914400" rtl="0" algn="l">
              <a:spcBef>
                <a:spcPts val="0"/>
              </a:spcBef>
              <a:spcAft>
                <a:spcPts val="0"/>
              </a:spcAft>
              <a:buSzPts val="1300"/>
              <a:buChar char="○"/>
            </a:pPr>
            <a:r>
              <a:rPr lang="en" sz="1300"/>
              <a:t>Arrays and loops</a:t>
            </a:r>
            <a:endParaRPr sz="1300"/>
          </a:p>
          <a:p>
            <a:pPr indent="-311150" lvl="0" marL="457200" rtl="0" algn="l">
              <a:spcBef>
                <a:spcPts val="0"/>
              </a:spcBef>
              <a:spcAft>
                <a:spcPts val="0"/>
              </a:spcAft>
              <a:buSzPts val="1300"/>
              <a:buChar char="●"/>
            </a:pPr>
            <a:r>
              <a:rPr lang="en" sz="1300"/>
              <a:t>Next Class we’ll review:</a:t>
            </a:r>
            <a:endParaRPr sz="1300"/>
          </a:p>
          <a:p>
            <a:pPr indent="-311150" lvl="1" marL="914400" rtl="0" algn="l">
              <a:spcBef>
                <a:spcPts val="0"/>
              </a:spcBef>
              <a:spcAft>
                <a:spcPts val="0"/>
              </a:spcAft>
              <a:buSzPts val="1300"/>
              <a:buChar char="○"/>
            </a:pPr>
            <a:r>
              <a:rPr lang="en" sz="1300"/>
              <a:t>Js objects</a:t>
            </a:r>
            <a:endParaRPr sz="1300"/>
          </a:p>
          <a:p>
            <a:pPr indent="-311150" lvl="1" marL="914400" rtl="0" algn="l">
              <a:spcBef>
                <a:spcPts val="0"/>
              </a:spcBef>
              <a:spcAft>
                <a:spcPts val="0"/>
              </a:spcAft>
              <a:buSzPts val="1300"/>
              <a:buChar char="○"/>
            </a:pPr>
            <a:r>
              <a:rPr lang="en" sz="1300"/>
              <a:t>Fetch</a:t>
            </a:r>
            <a:endParaRPr sz="1300"/>
          </a:p>
          <a:p>
            <a:pPr indent="-311150" lvl="1" marL="914400" rtl="0" algn="l">
              <a:spcBef>
                <a:spcPts val="0"/>
              </a:spcBef>
              <a:spcAft>
                <a:spcPts val="0"/>
              </a:spcAft>
              <a:buSzPts val="1300"/>
              <a:buChar char="○"/>
            </a:pPr>
            <a:r>
              <a:rPr lang="en" sz="1300"/>
              <a:t>Npm</a:t>
            </a:r>
            <a:endParaRPr sz="1300"/>
          </a:p>
          <a:p>
            <a:pPr indent="-311150" lvl="1" marL="914400" rtl="0" algn="l">
              <a:spcBef>
                <a:spcPts val="0"/>
              </a:spcBef>
              <a:spcAft>
                <a:spcPts val="0"/>
              </a:spcAft>
              <a:buSzPts val="1300"/>
              <a:buChar char="○"/>
            </a:pPr>
            <a:r>
              <a:rPr lang="en" sz="1300"/>
              <a:t>Es Modules</a:t>
            </a:r>
            <a:endParaRPr sz="1300"/>
          </a:p>
          <a:p>
            <a:pPr indent="0" lvl="0" marL="0" rtl="0" algn="l">
              <a:spcBef>
                <a:spcPts val="1600"/>
              </a:spcBef>
              <a:spcAft>
                <a:spcPts val="1600"/>
              </a:spcAft>
              <a:buNone/>
            </a:pPr>
            <a:r>
              <a:rPr lang="en" sz="1300"/>
              <a:t>Let’s get started so </a:t>
            </a:r>
            <a:r>
              <a:rPr lang="en" sz="1300"/>
              <a:t>that</a:t>
            </a:r>
            <a:r>
              <a:rPr lang="en" sz="1300"/>
              <a:t> we don’t waste any time!</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 Variables and Block Scoping</a:t>
            </a:r>
            <a:endParaRPr/>
          </a:p>
        </p:txBody>
      </p:sp>
      <p:sp>
        <p:nvSpPr>
          <p:cNvPr id="99" name="Google Shape;99;p19"/>
          <p:cNvSpPr txBox="1"/>
          <p:nvPr>
            <p:ph idx="1" type="body"/>
          </p:nvPr>
        </p:nvSpPr>
        <p:spPr>
          <a:xfrm>
            <a:off x="387900" y="1221200"/>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Block scoping means the part of a program where variables (and other bindings) are visible and accessible.</a:t>
            </a:r>
            <a:endParaRPr/>
          </a:p>
          <a:p>
            <a:pPr indent="0" lvl="0" marL="0" rtl="0" algn="l">
              <a:spcBef>
                <a:spcPts val="1600"/>
              </a:spcBef>
              <a:spcAft>
                <a:spcPts val="0"/>
              </a:spcAft>
              <a:buNone/>
            </a:pPr>
            <a:r>
              <a:rPr lang="en"/>
              <a:t>“</a:t>
            </a:r>
            <a:r>
              <a:rPr lang="en">
                <a:solidFill>
                  <a:srgbClr val="4DD0E1"/>
                </a:solidFill>
                <a:latin typeface="Roboto Mono"/>
                <a:ea typeface="Roboto Mono"/>
                <a:cs typeface="Roboto Mono"/>
                <a:sym typeface="Roboto Mono"/>
              </a:rPr>
              <a:t>let</a:t>
            </a:r>
            <a:r>
              <a:rPr lang="en"/>
              <a:t>” and “</a:t>
            </a:r>
            <a:r>
              <a:rPr lang="en">
                <a:solidFill>
                  <a:srgbClr val="4DD0E1"/>
                </a:solidFill>
                <a:latin typeface="Roboto Mono"/>
                <a:ea typeface="Roboto Mono"/>
                <a:cs typeface="Roboto Mono"/>
                <a:sym typeface="Roboto Mono"/>
              </a:rPr>
              <a:t>const</a:t>
            </a:r>
            <a:r>
              <a:rPr lang="en"/>
              <a:t>” are local to the block that they are defined/declared in. (example, if you create it in a function/if statement/loop) </a:t>
            </a:r>
            <a:endParaRPr/>
          </a:p>
          <a:p>
            <a:pPr indent="0" lvl="0" marL="0" rtl="0" algn="l">
              <a:spcBef>
                <a:spcPts val="1600"/>
              </a:spcBef>
              <a:spcAft>
                <a:spcPts val="0"/>
              </a:spcAft>
              <a:buNone/>
            </a:pPr>
            <a:r>
              <a:rPr lang="en"/>
              <a:t>“</a:t>
            </a:r>
            <a:r>
              <a:rPr lang="en">
                <a:solidFill>
                  <a:srgbClr val="4DD0E1"/>
                </a:solidFill>
                <a:latin typeface="Roboto Mono"/>
                <a:ea typeface="Roboto Mono"/>
                <a:cs typeface="Roboto Mono"/>
                <a:sym typeface="Roboto Mono"/>
              </a:rPr>
              <a:t>var</a:t>
            </a:r>
            <a:r>
              <a:rPr lang="en"/>
              <a:t>” keyword is local to the function they are defined in, or global. This is called function level scope.</a:t>
            </a:r>
            <a:endParaRPr/>
          </a:p>
          <a:p>
            <a:pPr indent="0" lvl="0" marL="0" rtl="0" algn="l">
              <a:spcBef>
                <a:spcPts val="1600"/>
              </a:spcBef>
              <a:spcAft>
                <a:spcPts val="1600"/>
              </a:spcAft>
              <a:buNone/>
            </a:pPr>
            <a:r>
              <a:rPr lang="en"/>
              <a:t>In this course we’ll be using let and const almost exclusively (except when we compile down to es5)</a:t>
            </a:r>
            <a:endParaRPr/>
          </a:p>
        </p:txBody>
      </p:sp>
      <p:sp>
        <p:nvSpPr>
          <p:cNvPr id="100" name="Google Shape;100;p19"/>
          <p:cNvSpPr txBox="1"/>
          <p:nvPr/>
        </p:nvSpPr>
        <p:spPr>
          <a:xfrm>
            <a:off x="4669850" y="1536675"/>
            <a:ext cx="4248000" cy="25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x = </a:t>
            </a:r>
            <a:r>
              <a:rPr lang="en" sz="1150">
                <a:solidFill>
                  <a:srgbClr val="FBC02D"/>
                </a:solidFill>
                <a:latin typeface="Roboto Mono"/>
                <a:ea typeface="Roboto Mono"/>
                <a:cs typeface="Roboto Mono"/>
                <a:sym typeface="Roboto Mono"/>
              </a:rPr>
              <a:t>10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true</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y = </a:t>
            </a:r>
            <a:r>
              <a:rPr lang="en" sz="1150">
                <a:solidFill>
                  <a:srgbClr val="FBC02D"/>
                </a:solidFill>
                <a:latin typeface="Roboto Mono"/>
                <a:ea typeface="Roboto Mono"/>
                <a:cs typeface="Roboto Mono"/>
                <a:sym typeface="Roboto Mono"/>
              </a:rPr>
              <a:t>20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var</a:t>
            </a:r>
            <a:r>
              <a:rPr lang="en" sz="1150">
                <a:solidFill>
                  <a:srgbClr val="ECEFF1"/>
                </a:solidFill>
                <a:latin typeface="Roboto Mono"/>
                <a:ea typeface="Roboto Mono"/>
                <a:cs typeface="Roboto Mono"/>
                <a:sym typeface="Roboto Mono"/>
              </a:rPr>
              <a:t> z = </a:t>
            </a:r>
            <a:r>
              <a:rPr lang="en" sz="1150">
                <a:solidFill>
                  <a:srgbClr val="FBC02D"/>
                </a:solidFill>
                <a:latin typeface="Roboto Mono"/>
                <a:ea typeface="Roboto Mono"/>
                <a:cs typeface="Roboto Mono"/>
                <a:sym typeface="Roboto Mono"/>
              </a:rPr>
              <a:t>30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console.log(x + y + z);</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F06292"/>
                </a:solidFill>
                <a:latin typeface="Roboto Mono"/>
                <a:ea typeface="Roboto Mono"/>
                <a:cs typeface="Roboto Mono"/>
                <a:sym typeface="Roboto Mono"/>
              </a:rPr>
              <a:t>// output: 60</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y is not visible here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console.log(`value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x is: ${x}`);</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output: 10</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console.log(`value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z is: ${z}`);</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output: 30</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console.log(`value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y is: ${y}`);</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F06292"/>
                </a:solidFill>
                <a:latin typeface="Roboto Mono"/>
                <a:ea typeface="Roboto Mono"/>
                <a:cs typeface="Roboto Mono"/>
                <a:sym typeface="Roboto Mono"/>
              </a:rPr>
              <a:t>// Uncaught ReferenceError: y is not defined</a:t>
            </a:r>
            <a:endParaRPr sz="1150">
              <a:solidFill>
                <a:srgbClr val="F06292"/>
              </a:solidFill>
              <a:latin typeface="Roboto Mono"/>
              <a:ea typeface="Roboto Mono"/>
              <a:cs typeface="Roboto Mono"/>
              <a:sym typeface="Roboto Mono"/>
            </a:endParaRPr>
          </a:p>
        </p:txBody>
      </p:sp>
      <p:sp>
        <p:nvSpPr>
          <p:cNvPr id="101" name="Google Shape;101;p19"/>
          <p:cNvSpPr txBox="1"/>
          <p:nvPr/>
        </p:nvSpPr>
        <p:spPr>
          <a:xfrm>
            <a:off x="5756950" y="4225825"/>
            <a:ext cx="1036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Roboto"/>
                <a:ea typeface="Roboto"/>
                <a:cs typeface="Roboto"/>
                <a:sym typeface="Roboto"/>
                <a:hlinkClick r:id="rId3"/>
              </a:rPr>
              <a:t>Live Demo</a:t>
            </a:r>
            <a:endParaRPr>
              <a:solidFill>
                <a:srgbClr val="FFFFF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 Functions</a:t>
            </a:r>
            <a:endParaRPr/>
          </a:p>
        </p:txBody>
      </p:sp>
      <p:sp>
        <p:nvSpPr>
          <p:cNvPr id="107" name="Google Shape;107;p20"/>
          <p:cNvSpPr txBox="1"/>
          <p:nvPr>
            <p:ph idx="1" type="body"/>
          </p:nvPr>
        </p:nvSpPr>
        <p:spPr>
          <a:xfrm>
            <a:off x="387900" y="1221200"/>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On the right we have different types of function definitions.</a:t>
            </a:r>
            <a:endParaRPr sz="1300"/>
          </a:p>
          <a:p>
            <a:pPr indent="0" lvl="0" marL="0" rtl="0" algn="l">
              <a:spcBef>
                <a:spcPts val="1600"/>
              </a:spcBef>
              <a:spcAft>
                <a:spcPts val="0"/>
              </a:spcAft>
              <a:buNone/>
            </a:pPr>
            <a:r>
              <a:rPr lang="en" sz="1300"/>
              <a:t>You can see that in all examples “</a:t>
            </a:r>
            <a:r>
              <a:rPr lang="en" sz="1100">
                <a:solidFill>
                  <a:srgbClr val="ECEFF1"/>
                </a:solidFill>
                <a:latin typeface="Roboto Mono"/>
                <a:ea typeface="Roboto Mono"/>
                <a:cs typeface="Roboto Mono"/>
                <a:sym typeface="Roboto Mono"/>
              </a:rPr>
              <a:t>name</a:t>
            </a:r>
            <a:r>
              <a:rPr lang="en" sz="1300"/>
              <a:t>” is a parameter and “</a:t>
            </a:r>
            <a:r>
              <a:rPr lang="en" sz="1100">
                <a:solidFill>
                  <a:srgbClr val="ECEFF1"/>
                </a:solidFill>
                <a:latin typeface="Roboto Mono"/>
                <a:ea typeface="Roboto Mono"/>
                <a:cs typeface="Roboto Mono"/>
                <a:sym typeface="Roboto Mono"/>
              </a:rPr>
              <a:t>lovesCats</a:t>
            </a:r>
            <a:r>
              <a:rPr lang="en" sz="1300"/>
              <a:t>” is the function name.</a:t>
            </a:r>
            <a:endParaRPr sz="1300"/>
          </a:p>
          <a:p>
            <a:pPr indent="0" lvl="0" marL="0" rtl="0" algn="l">
              <a:spcBef>
                <a:spcPts val="1600"/>
              </a:spcBef>
              <a:spcAft>
                <a:spcPts val="0"/>
              </a:spcAft>
              <a:buNone/>
            </a:pPr>
            <a:r>
              <a:rPr lang="en" sz="1300"/>
              <a:t>The major </a:t>
            </a:r>
            <a:r>
              <a:rPr lang="en" sz="1300"/>
              <a:t>difference between using the “</a:t>
            </a:r>
            <a:r>
              <a:rPr lang="en" sz="1100">
                <a:solidFill>
                  <a:srgbClr val="4DD0E1"/>
                </a:solidFill>
                <a:latin typeface="Roboto Mono"/>
                <a:ea typeface="Roboto Mono"/>
                <a:cs typeface="Roboto Mono"/>
                <a:sym typeface="Roboto Mono"/>
              </a:rPr>
              <a:t>function</a:t>
            </a:r>
            <a:r>
              <a:rPr lang="en" sz="1300"/>
              <a:t>” definition and using “</a:t>
            </a:r>
            <a:r>
              <a:rPr lang="en" sz="1100">
                <a:solidFill>
                  <a:srgbClr val="ECEFF1"/>
                </a:solidFill>
                <a:latin typeface="Roboto Mono"/>
                <a:ea typeface="Roboto Mono"/>
                <a:cs typeface="Roboto Mono"/>
                <a:sym typeface="Roboto Mono"/>
              </a:rPr>
              <a:t>=&gt;</a:t>
            </a:r>
            <a:r>
              <a:rPr lang="en" sz="1300"/>
              <a:t>” (arrow function) definition is that arrows functions do not have their own “</a:t>
            </a:r>
            <a:r>
              <a:rPr lang="en" sz="1100">
                <a:solidFill>
                  <a:srgbClr val="4DD0E1"/>
                </a:solidFill>
                <a:latin typeface="Roboto Mono"/>
                <a:ea typeface="Roboto Mono"/>
                <a:cs typeface="Roboto Mono"/>
                <a:sym typeface="Roboto Mono"/>
              </a:rPr>
              <a:t>this</a:t>
            </a:r>
            <a:r>
              <a:rPr lang="en" sz="1300"/>
              <a:t>” (think js objects) which means that we need to use the “</a:t>
            </a:r>
            <a:r>
              <a:rPr lang="en" sz="1100">
                <a:solidFill>
                  <a:srgbClr val="4DD0E1"/>
                </a:solidFill>
                <a:latin typeface="Roboto Mono"/>
                <a:ea typeface="Roboto Mono"/>
                <a:cs typeface="Roboto Mono"/>
                <a:sym typeface="Roboto Mono"/>
              </a:rPr>
              <a:t>function</a:t>
            </a:r>
            <a:r>
              <a:rPr lang="en" sz="1300"/>
              <a:t>” definition in some cases.</a:t>
            </a:r>
            <a:endParaRPr sz="1300"/>
          </a:p>
          <a:p>
            <a:pPr indent="0" lvl="0" marL="0" rtl="0" algn="l">
              <a:spcBef>
                <a:spcPts val="1600"/>
              </a:spcBef>
              <a:spcAft>
                <a:spcPts val="1600"/>
              </a:spcAft>
              <a:buNone/>
            </a:pPr>
            <a:r>
              <a:rPr lang="en" sz="1300"/>
              <a:t>We’ll point out when we need to use  “</a:t>
            </a:r>
            <a:r>
              <a:rPr lang="en" sz="1100">
                <a:solidFill>
                  <a:srgbClr val="4DD0E1"/>
                </a:solidFill>
                <a:latin typeface="Roboto Mono"/>
                <a:ea typeface="Roboto Mono"/>
                <a:cs typeface="Roboto Mono"/>
                <a:sym typeface="Roboto Mono"/>
              </a:rPr>
              <a:t>function</a:t>
            </a:r>
            <a:r>
              <a:rPr lang="en" sz="1300"/>
              <a:t>” definition for our apps. </a:t>
            </a:r>
            <a:endParaRPr sz="1300"/>
          </a:p>
        </p:txBody>
      </p:sp>
      <p:sp>
        <p:nvSpPr>
          <p:cNvPr id="108" name="Google Shape;108;p20"/>
          <p:cNvSpPr txBox="1"/>
          <p:nvPr/>
        </p:nvSpPr>
        <p:spPr>
          <a:xfrm>
            <a:off x="4477475" y="1029125"/>
            <a:ext cx="43974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06292"/>
                </a:solidFill>
                <a:latin typeface="Roboto Mono"/>
                <a:ea typeface="Roboto Mono"/>
                <a:cs typeface="Roboto Mono"/>
                <a:sym typeface="Roboto Mono"/>
              </a:rPr>
              <a:t>// defining functions example</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4DD0E1"/>
                </a:solidFill>
                <a:latin typeface="Roboto Mono"/>
                <a:ea typeface="Roboto Mono"/>
                <a:cs typeface="Roboto Mono"/>
                <a:sym typeface="Roboto Mono"/>
              </a:rPr>
              <a:t>const</a:t>
            </a:r>
            <a:r>
              <a:rPr lang="en" sz="1200">
                <a:solidFill>
                  <a:srgbClr val="ECEFF1"/>
                </a:solidFill>
                <a:latin typeface="Roboto Mono"/>
                <a:ea typeface="Roboto Mono"/>
                <a:cs typeface="Roboto Mono"/>
                <a:sym typeface="Roboto Mono"/>
              </a:rPr>
              <a:t> lovesCats = </a:t>
            </a:r>
            <a:r>
              <a:rPr lang="en" sz="1200">
                <a:solidFill>
                  <a:srgbClr val="4DD0E1"/>
                </a:solidFill>
                <a:latin typeface="Roboto Mono"/>
                <a:ea typeface="Roboto Mono"/>
                <a:cs typeface="Roboto Mono"/>
                <a:sym typeface="Roboto Mono"/>
              </a:rPr>
              <a:t>function</a:t>
            </a:r>
            <a:r>
              <a:rPr lang="en" sz="1200">
                <a:solidFill>
                  <a:srgbClr val="ECEFF1"/>
                </a:solidFill>
                <a:latin typeface="Roboto Mono"/>
                <a:ea typeface="Roboto Mono"/>
                <a:cs typeface="Roboto Mono"/>
                <a:sym typeface="Roboto Mono"/>
              </a:rPr>
              <a:t>(name) {</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  </a:t>
            </a:r>
            <a:r>
              <a:rPr lang="en" sz="1200">
                <a:solidFill>
                  <a:srgbClr val="4DD0E1"/>
                </a:solidFill>
                <a:latin typeface="Roboto Mono"/>
                <a:ea typeface="Roboto Mono"/>
                <a:cs typeface="Roboto Mono"/>
                <a:sym typeface="Roboto Mono"/>
              </a:rPr>
              <a:t>let</a:t>
            </a:r>
            <a:r>
              <a:rPr lang="en" sz="1200">
                <a:solidFill>
                  <a:srgbClr val="ECEFF1"/>
                </a:solidFill>
                <a:latin typeface="Roboto Mono"/>
                <a:ea typeface="Roboto Mono"/>
                <a:cs typeface="Roboto Mono"/>
                <a:sym typeface="Roboto Mono"/>
              </a:rPr>
              <a:t> catLoveStatement = name + </a:t>
            </a:r>
            <a:r>
              <a:rPr lang="en" sz="1200">
                <a:solidFill>
                  <a:srgbClr val="9CCC65"/>
                </a:solidFill>
                <a:latin typeface="Roboto Mono"/>
                <a:ea typeface="Roboto Mono"/>
                <a:cs typeface="Roboto Mono"/>
                <a:sym typeface="Roboto Mono"/>
              </a:rPr>
              <a:t>" loves cats"</a:t>
            </a:r>
            <a:r>
              <a:rPr lang="en" sz="1200">
                <a:solidFill>
                  <a:srgbClr val="ECEFF1"/>
                </a:solidFill>
                <a:latin typeface="Roboto Mono"/>
                <a:ea typeface="Roboto Mono"/>
                <a:cs typeface="Roboto Mono"/>
                <a:sym typeface="Roboto Mono"/>
              </a:rPr>
              <a: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  </a:t>
            </a:r>
            <a:r>
              <a:rPr lang="en" sz="1200">
                <a:solidFill>
                  <a:srgbClr val="4DD0E1"/>
                </a:solidFill>
                <a:latin typeface="Roboto Mono"/>
                <a:ea typeface="Roboto Mono"/>
                <a:cs typeface="Roboto Mono"/>
                <a:sym typeface="Roboto Mono"/>
              </a:rPr>
              <a:t>return</a:t>
            </a:r>
            <a:r>
              <a:rPr lang="en" sz="1200">
                <a:solidFill>
                  <a:srgbClr val="ECEFF1"/>
                </a:solidFill>
                <a:latin typeface="Roboto Mono"/>
                <a:ea typeface="Roboto Mono"/>
                <a:cs typeface="Roboto Mono"/>
                <a:sym typeface="Roboto Mono"/>
              </a:rPr>
              <a:t> catLoveStatement;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F06292"/>
                </a:solidFill>
                <a:latin typeface="Roboto Mono"/>
                <a:ea typeface="Roboto Mono"/>
                <a:cs typeface="Roboto Mono"/>
                <a:sym typeface="Roboto Mono"/>
              </a:rPr>
              <a:t>// is the same as</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4DD0E1"/>
                </a:solidFill>
                <a:latin typeface="Roboto Mono"/>
                <a:ea typeface="Roboto Mono"/>
                <a:cs typeface="Roboto Mono"/>
                <a:sym typeface="Roboto Mono"/>
              </a:rPr>
              <a:t>function</a:t>
            </a:r>
            <a:r>
              <a:rPr lang="en" sz="1200">
                <a:solidFill>
                  <a:srgbClr val="ECEFF1"/>
                </a:solidFill>
                <a:latin typeface="Roboto Mono"/>
                <a:ea typeface="Roboto Mono"/>
                <a:cs typeface="Roboto Mono"/>
                <a:sym typeface="Roboto Mono"/>
              </a:rPr>
              <a:t> lovesCats(name) {</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  </a:t>
            </a:r>
            <a:r>
              <a:rPr lang="en" sz="1200">
                <a:solidFill>
                  <a:srgbClr val="4DD0E1"/>
                </a:solidFill>
                <a:latin typeface="Roboto Mono"/>
                <a:ea typeface="Roboto Mono"/>
                <a:cs typeface="Roboto Mono"/>
                <a:sym typeface="Roboto Mono"/>
              </a:rPr>
              <a:t>let</a:t>
            </a:r>
            <a:r>
              <a:rPr lang="en" sz="1200">
                <a:solidFill>
                  <a:srgbClr val="ECEFF1"/>
                </a:solidFill>
                <a:latin typeface="Roboto Mono"/>
                <a:ea typeface="Roboto Mono"/>
                <a:cs typeface="Roboto Mono"/>
                <a:sym typeface="Roboto Mono"/>
              </a:rPr>
              <a:t> catLoveStatement = name + </a:t>
            </a:r>
            <a:r>
              <a:rPr lang="en" sz="1200">
                <a:solidFill>
                  <a:srgbClr val="9CCC65"/>
                </a:solidFill>
                <a:latin typeface="Roboto Mono"/>
                <a:ea typeface="Roboto Mono"/>
                <a:cs typeface="Roboto Mono"/>
                <a:sym typeface="Roboto Mono"/>
              </a:rPr>
              <a:t>" loves cats"</a:t>
            </a:r>
            <a:r>
              <a:rPr lang="en" sz="1200">
                <a:solidFill>
                  <a:srgbClr val="ECEFF1"/>
                </a:solidFill>
                <a:latin typeface="Roboto Mono"/>
                <a:ea typeface="Roboto Mono"/>
                <a:cs typeface="Roboto Mono"/>
                <a:sym typeface="Roboto Mono"/>
              </a:rPr>
              <a: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  </a:t>
            </a:r>
            <a:r>
              <a:rPr lang="en" sz="1200">
                <a:solidFill>
                  <a:srgbClr val="4DD0E1"/>
                </a:solidFill>
                <a:latin typeface="Roboto Mono"/>
                <a:ea typeface="Roboto Mono"/>
                <a:cs typeface="Roboto Mono"/>
                <a:sym typeface="Roboto Mono"/>
              </a:rPr>
              <a:t>return</a:t>
            </a:r>
            <a:r>
              <a:rPr lang="en" sz="1200">
                <a:solidFill>
                  <a:srgbClr val="ECEFF1"/>
                </a:solidFill>
                <a:latin typeface="Roboto Mono"/>
                <a:ea typeface="Roboto Mono"/>
                <a:cs typeface="Roboto Mono"/>
                <a:sym typeface="Roboto Mono"/>
              </a:rPr>
              <a:t> catLoveStatement;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F06292"/>
                </a:solidFill>
                <a:latin typeface="Roboto Mono"/>
                <a:ea typeface="Roboto Mono"/>
                <a:cs typeface="Roboto Mono"/>
                <a:sym typeface="Roboto Mono"/>
              </a:rPr>
              <a:t>// arrow function is essentially the same as</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4DD0E1"/>
                </a:solidFill>
                <a:latin typeface="Roboto Mono"/>
                <a:ea typeface="Roboto Mono"/>
                <a:cs typeface="Roboto Mono"/>
                <a:sym typeface="Roboto Mono"/>
              </a:rPr>
              <a:t>const</a:t>
            </a:r>
            <a:r>
              <a:rPr lang="en" sz="1200">
                <a:solidFill>
                  <a:srgbClr val="ECEFF1"/>
                </a:solidFill>
                <a:latin typeface="Roboto Mono"/>
                <a:ea typeface="Roboto Mono"/>
                <a:cs typeface="Roboto Mono"/>
                <a:sym typeface="Roboto Mono"/>
              </a:rPr>
              <a:t> lovesCats = (name) =&gt; {</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  </a:t>
            </a:r>
            <a:r>
              <a:rPr lang="en" sz="1200">
                <a:solidFill>
                  <a:srgbClr val="4DD0E1"/>
                </a:solidFill>
                <a:latin typeface="Roboto Mono"/>
                <a:ea typeface="Roboto Mono"/>
                <a:cs typeface="Roboto Mono"/>
                <a:sym typeface="Roboto Mono"/>
              </a:rPr>
              <a:t>let</a:t>
            </a:r>
            <a:r>
              <a:rPr lang="en" sz="1200">
                <a:solidFill>
                  <a:srgbClr val="ECEFF1"/>
                </a:solidFill>
                <a:latin typeface="Roboto Mono"/>
                <a:ea typeface="Roboto Mono"/>
                <a:cs typeface="Roboto Mono"/>
                <a:sym typeface="Roboto Mono"/>
              </a:rPr>
              <a:t> catLoveStatement = name + </a:t>
            </a:r>
            <a:r>
              <a:rPr lang="en" sz="1200">
                <a:solidFill>
                  <a:srgbClr val="9CCC65"/>
                </a:solidFill>
                <a:latin typeface="Roboto Mono"/>
                <a:ea typeface="Roboto Mono"/>
                <a:cs typeface="Roboto Mono"/>
                <a:sym typeface="Roboto Mono"/>
              </a:rPr>
              <a:t>" loves cats"</a:t>
            </a:r>
            <a:r>
              <a:rPr lang="en" sz="1200">
                <a:solidFill>
                  <a:srgbClr val="ECEFF1"/>
                </a:solidFill>
                <a:latin typeface="Roboto Mono"/>
                <a:ea typeface="Roboto Mono"/>
                <a:cs typeface="Roboto Mono"/>
                <a:sym typeface="Roboto Mono"/>
              </a:rPr>
              <a:t>;</a:t>
            </a:r>
            <a:endParaRPr sz="12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ECEFF1"/>
                </a:solidFill>
                <a:latin typeface="Roboto Mono"/>
                <a:ea typeface="Roboto Mono"/>
                <a:cs typeface="Roboto Mono"/>
                <a:sym typeface="Roboto Mono"/>
              </a:rPr>
              <a:t>  </a:t>
            </a:r>
            <a:r>
              <a:rPr lang="en" sz="1200">
                <a:solidFill>
                  <a:srgbClr val="4DD0E1"/>
                </a:solidFill>
                <a:latin typeface="Roboto Mono"/>
                <a:ea typeface="Roboto Mono"/>
                <a:cs typeface="Roboto Mono"/>
                <a:sym typeface="Roboto Mono"/>
              </a:rPr>
              <a:t>return</a:t>
            </a:r>
            <a:r>
              <a:rPr lang="en" sz="1200">
                <a:solidFill>
                  <a:srgbClr val="ECEFF1"/>
                </a:solidFill>
                <a:latin typeface="Roboto Mono"/>
                <a:ea typeface="Roboto Mono"/>
                <a:cs typeface="Roboto Mono"/>
                <a:sym typeface="Roboto Mono"/>
              </a:rPr>
              <a:t> catLoveStatement;</a:t>
            </a:r>
            <a:endParaRPr sz="1200">
              <a:solidFill>
                <a:srgbClr val="ECEFF1"/>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 sz="1200">
                <a:solidFill>
                  <a:srgbClr val="ECEFF1"/>
                </a:solidFill>
                <a:latin typeface="Roboto Mono"/>
                <a:ea typeface="Roboto Mono"/>
                <a:cs typeface="Roboto Mono"/>
                <a:sym typeface="Roboto Mono"/>
              </a:rPr>
              <a:t>}</a:t>
            </a:r>
            <a:endParaRPr sz="120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 If Statements</a:t>
            </a:r>
            <a:endParaRPr/>
          </a:p>
        </p:txBody>
      </p:sp>
      <p:sp>
        <p:nvSpPr>
          <p:cNvPr id="114" name="Google Shape;114;p21"/>
          <p:cNvSpPr txBox="1"/>
          <p:nvPr>
            <p:ph idx="1" type="body"/>
          </p:nvPr>
        </p:nvSpPr>
        <p:spPr>
          <a:xfrm>
            <a:off x="387900" y="1221200"/>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On the right we have a using if statements and conditions that are using operators.</a:t>
            </a:r>
            <a:endParaRPr sz="1200"/>
          </a:p>
          <a:p>
            <a:pPr indent="0" lvl="0" marL="0" rtl="0" algn="l">
              <a:spcBef>
                <a:spcPts val="1600"/>
              </a:spcBef>
              <a:spcAft>
                <a:spcPts val="0"/>
              </a:spcAft>
              <a:buNone/>
            </a:pPr>
            <a:r>
              <a:rPr lang="en" sz="1200"/>
              <a:t>An “</a:t>
            </a:r>
            <a:r>
              <a:rPr lang="en" sz="1050">
                <a:solidFill>
                  <a:srgbClr val="4DD0E1"/>
                </a:solidFill>
                <a:latin typeface="Roboto Mono"/>
                <a:ea typeface="Roboto Mono"/>
                <a:cs typeface="Roboto Mono"/>
                <a:sym typeface="Roboto Mono"/>
              </a:rPr>
              <a:t>if</a:t>
            </a:r>
            <a:r>
              <a:rPr lang="en" sz="1200"/>
              <a:t>” statements’ block is only executed if the condition “</a:t>
            </a:r>
            <a:r>
              <a:rPr lang="en" sz="1050">
                <a:solidFill>
                  <a:srgbClr val="FBC02D"/>
                </a:solidFill>
                <a:latin typeface="Roboto Mono"/>
                <a:ea typeface="Roboto Mono"/>
                <a:cs typeface="Roboto Mono"/>
                <a:sym typeface="Roboto Mono"/>
              </a:rPr>
              <a:t>(</a:t>
            </a:r>
            <a:r>
              <a:rPr lang="en" sz="1050">
                <a:solidFill>
                  <a:srgbClr val="ECEFF1"/>
                </a:solidFill>
                <a:latin typeface="Roboto Mono"/>
                <a:ea typeface="Roboto Mono"/>
                <a:cs typeface="Roboto Mono"/>
                <a:sym typeface="Roboto Mono"/>
              </a:rPr>
              <a:t>answer </a:t>
            </a:r>
            <a:r>
              <a:rPr lang="en" sz="1050">
                <a:solidFill>
                  <a:srgbClr val="FBC02D"/>
                </a:solidFill>
                <a:latin typeface="Roboto Mono"/>
                <a:ea typeface="Roboto Mono"/>
                <a:cs typeface="Roboto Mono"/>
                <a:sym typeface="Roboto Mono"/>
              </a:rPr>
              <a:t>===</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"y"</a:t>
            </a:r>
            <a:r>
              <a:rPr lang="en" sz="1050">
                <a:solidFill>
                  <a:srgbClr val="FBC02D"/>
                </a:solidFill>
                <a:latin typeface="Roboto Mono"/>
                <a:ea typeface="Roboto Mono"/>
                <a:cs typeface="Roboto Mono"/>
                <a:sym typeface="Roboto Mono"/>
              </a:rPr>
              <a:t>)</a:t>
            </a:r>
            <a:r>
              <a:rPr lang="en" sz="1200"/>
              <a:t>” is True and will skip the rest of the statements.</a:t>
            </a:r>
            <a:endParaRPr sz="1200"/>
          </a:p>
          <a:p>
            <a:pPr indent="0" lvl="0" marL="0" rtl="0" algn="l">
              <a:spcBef>
                <a:spcPts val="1600"/>
              </a:spcBef>
              <a:spcAft>
                <a:spcPts val="0"/>
              </a:spcAft>
              <a:buNone/>
            </a:pPr>
            <a:r>
              <a:rPr lang="en" sz="1200"/>
              <a:t>If the “</a:t>
            </a:r>
            <a:r>
              <a:rPr lang="en" sz="1050">
                <a:solidFill>
                  <a:srgbClr val="4DD0E1"/>
                </a:solidFill>
                <a:latin typeface="Roboto Mono"/>
                <a:ea typeface="Roboto Mono"/>
                <a:cs typeface="Roboto Mono"/>
                <a:sym typeface="Roboto Mono"/>
              </a:rPr>
              <a:t>if</a:t>
            </a:r>
            <a:r>
              <a:rPr lang="en" sz="1200"/>
              <a:t>” statements condition is false, in this case it will continue to the “</a:t>
            </a:r>
            <a:r>
              <a:rPr lang="en" sz="1050">
                <a:solidFill>
                  <a:srgbClr val="4DD0E1"/>
                </a:solidFill>
                <a:latin typeface="Roboto Mono"/>
                <a:ea typeface="Roboto Mono"/>
                <a:cs typeface="Roboto Mono"/>
                <a:sym typeface="Roboto Mono"/>
              </a:rPr>
              <a:t>else</a:t>
            </a: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if</a:t>
            </a:r>
            <a:r>
              <a:rPr lang="en" sz="1200"/>
              <a:t>” condition and check if that is true. If all of the conditions are false and there is an “</a:t>
            </a:r>
            <a:r>
              <a:rPr lang="en" sz="1050">
                <a:solidFill>
                  <a:srgbClr val="4DD0E1"/>
                </a:solidFill>
                <a:latin typeface="Roboto Mono"/>
                <a:ea typeface="Roboto Mono"/>
                <a:cs typeface="Roboto Mono"/>
                <a:sym typeface="Roboto Mono"/>
              </a:rPr>
              <a:t>else</a:t>
            </a:r>
            <a:r>
              <a:rPr lang="en" sz="1200"/>
              <a:t>” block, the “</a:t>
            </a:r>
            <a:r>
              <a:rPr lang="en" sz="1050">
                <a:solidFill>
                  <a:srgbClr val="4DD0E1"/>
                </a:solidFill>
                <a:latin typeface="Roboto Mono"/>
                <a:ea typeface="Roboto Mono"/>
                <a:cs typeface="Roboto Mono"/>
                <a:sym typeface="Roboto Mono"/>
              </a:rPr>
              <a:t>else</a:t>
            </a:r>
            <a:r>
              <a:rPr lang="en" sz="1200"/>
              <a:t>” block will be executed.</a:t>
            </a:r>
            <a:endParaRPr sz="1200"/>
          </a:p>
          <a:p>
            <a:pPr indent="0" lvl="0" marL="0" rtl="0" algn="l">
              <a:spcBef>
                <a:spcPts val="1600"/>
              </a:spcBef>
              <a:spcAft>
                <a:spcPts val="1600"/>
              </a:spcAft>
              <a:buNone/>
            </a:pPr>
            <a:r>
              <a:rPr lang="en" sz="1200"/>
              <a:t>It’s expected that you understand the relationship between datatypes and operators as well. You can </a:t>
            </a:r>
            <a:r>
              <a:rPr lang="en" sz="1200" u="sng">
                <a:solidFill>
                  <a:schemeClr val="hlink"/>
                </a:solidFill>
                <a:hlinkClick r:id="rId3"/>
              </a:rPr>
              <a:t>click here</a:t>
            </a:r>
            <a:r>
              <a:rPr lang="en" sz="1200"/>
              <a:t> for more details about operators.</a:t>
            </a:r>
            <a:endParaRPr sz="1200"/>
          </a:p>
        </p:txBody>
      </p:sp>
      <p:sp>
        <p:nvSpPr>
          <p:cNvPr id="115" name="Google Shape;115;p21"/>
          <p:cNvSpPr txBox="1"/>
          <p:nvPr/>
        </p:nvSpPr>
        <p:spPr>
          <a:xfrm>
            <a:off x="4387800" y="1176775"/>
            <a:ext cx="4442100" cy="307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a:ea typeface="Roboto"/>
                <a:cs typeface="Roboto"/>
                <a:sym typeface="Roboto"/>
              </a:rPr>
              <a:t>Examples of of decisions (Click </a:t>
            </a:r>
            <a:r>
              <a:rPr lang="en" u="sng">
                <a:solidFill>
                  <a:srgbClr val="8BC34A"/>
                </a:solidFill>
                <a:latin typeface="Roboto"/>
                <a:ea typeface="Roboto"/>
                <a:cs typeface="Roboto"/>
                <a:sym typeface="Roboto"/>
                <a:hlinkClick r:id="rId4">
                  <a:extLst>
                    <a:ext uri="{A12FA001-AC4F-418D-AE19-62706E023703}">
                      <ahyp:hlinkClr val="tx"/>
                    </a:ext>
                  </a:extLst>
                </a:hlinkClick>
              </a:rPr>
              <a:t>here for an example</a:t>
            </a:r>
            <a:r>
              <a:rPr lang="en">
                <a:solidFill>
                  <a:srgbClr val="FFFFFF"/>
                </a:solidFill>
                <a:latin typeface="Roboto"/>
                <a:ea typeface="Roboto"/>
                <a:cs typeface="Roboto"/>
                <a:sym typeface="Roboto"/>
              </a:rPr>
              <a:t>):</a:t>
            </a:r>
            <a:endParaRPr>
              <a:solidFill>
                <a:srgbClr val="FFFFFF"/>
              </a:solidFill>
              <a:latin typeface="Roboto"/>
              <a:ea typeface="Roboto"/>
              <a:cs typeface="Roboto"/>
              <a:sym typeface="Roboto"/>
            </a:endParaRPr>
          </a:p>
          <a:p>
            <a:pPr indent="0" lvl="0" marL="0" rtl="0" algn="l">
              <a:lnSpc>
                <a:spcPct val="115000"/>
              </a:lnSpc>
              <a:spcBef>
                <a:spcPts val="160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answer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prompt</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"Is dan an okay? (y or n)"</a:t>
            </a:r>
            <a:r>
              <a:rPr lang="en" sz="1150">
                <a:solidFill>
                  <a:srgbClr val="FBC02D"/>
                </a:solidFill>
                <a:latin typeface="Roboto Mono"/>
                <a:ea typeface="Roboto Mono"/>
                <a:cs typeface="Roboto Mono"/>
                <a:sym typeface="Roboto Mono"/>
              </a:rPr>
              <a:t>);</a:t>
            </a:r>
            <a:br>
              <a:rPr lang="en" sz="1150">
                <a:solidFill>
                  <a:srgbClr val="FBC02D"/>
                </a:solidFill>
                <a:latin typeface="Roboto Mono"/>
                <a:ea typeface="Roboto Mono"/>
                <a:cs typeface="Roboto Mono"/>
                <a:sym typeface="Roboto Mono"/>
              </a:rPr>
            </a:br>
            <a:br>
              <a:rPr lang="en" sz="1150">
                <a:solidFill>
                  <a:srgbClr val="ECEFF1"/>
                </a:solidFill>
                <a:latin typeface="Roboto Mono"/>
                <a:ea typeface="Roboto Mono"/>
                <a:cs typeface="Roboto Mono"/>
                <a:sym typeface="Roboto Mono"/>
              </a:rPr>
            </a:b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answer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"y"</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console</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log</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"Give dan a good rating"</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else</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answer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"n"</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console</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log</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"Give dan feedback"</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else</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console</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log</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"can not compute answer"</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BC02D"/>
                </a:solidFill>
                <a:latin typeface="Roboto Mono"/>
                <a:ea typeface="Roboto Mono"/>
                <a:cs typeface="Roboto Mono"/>
                <a:sym typeface="Roboto Mono"/>
              </a:rPr>
              <a:t>}</a:t>
            </a:r>
            <a:br>
              <a:rPr lang="en" sz="1150">
                <a:solidFill>
                  <a:srgbClr val="FBC02D"/>
                </a:solidFill>
                <a:latin typeface="Roboto Mono"/>
                <a:ea typeface="Roboto Mono"/>
                <a:cs typeface="Roboto Mono"/>
                <a:sym typeface="Roboto Mono"/>
              </a:rPr>
            </a:br>
            <a:br>
              <a:rPr lang="en" sz="1150">
                <a:solidFill>
                  <a:srgbClr val="FBC02D"/>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//if entered "y" for example</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//output: Give dan a good rating</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//if entered "something" for example</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//output: can not compute answer</a:t>
            </a:r>
            <a:endParaRPr sz="1150">
              <a:solidFill>
                <a:srgbClr val="F06292"/>
              </a:solidFill>
              <a:latin typeface="Roboto Mono"/>
              <a:ea typeface="Roboto Mono"/>
              <a:cs typeface="Roboto Mono"/>
              <a:sym typeface="Roboto Mono"/>
            </a:endParaRPr>
          </a:p>
          <a:p>
            <a:pPr indent="0" lvl="0" marL="0" rtl="0" algn="l">
              <a:lnSpc>
                <a:spcPct val="115000"/>
              </a:lnSpc>
              <a:spcBef>
                <a:spcPts val="1600"/>
              </a:spcBef>
              <a:spcAft>
                <a:spcPts val="1600"/>
              </a:spcAft>
              <a:buNone/>
            </a:pPr>
            <a:r>
              <a:t/>
            </a:r>
            <a:endParaRPr sz="1150">
              <a:solidFill>
                <a:srgbClr val="FBC02D"/>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 DOM API</a:t>
            </a:r>
            <a:endParaRPr/>
          </a:p>
        </p:txBody>
      </p:sp>
      <p:sp>
        <p:nvSpPr>
          <p:cNvPr id="121" name="Google Shape;121;p22"/>
          <p:cNvSpPr txBox="1"/>
          <p:nvPr>
            <p:ph idx="1" type="body"/>
          </p:nvPr>
        </p:nvSpPr>
        <p:spPr>
          <a:xfrm>
            <a:off x="387900" y="1221200"/>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You need to understand how to interact with the DOM.</a:t>
            </a:r>
            <a:endParaRPr sz="1200"/>
          </a:p>
          <a:p>
            <a:pPr indent="0" lvl="0" marL="0" rtl="0" algn="l">
              <a:spcBef>
                <a:spcPts val="1600"/>
              </a:spcBef>
              <a:spcAft>
                <a:spcPts val="0"/>
              </a:spcAft>
              <a:buNone/>
            </a:pPr>
            <a:r>
              <a:rPr b="1" lang="en" sz="1200"/>
              <a:t>You also need to understand CSS selectors, there will be no help on the question “how do i select this element” in this course. If you need help with this </a:t>
            </a:r>
            <a:r>
              <a:rPr b="1" lang="en" sz="1200" u="sng">
                <a:solidFill>
                  <a:schemeClr val="hlink"/>
                </a:solidFill>
                <a:hlinkClick r:id="rId3"/>
              </a:rPr>
              <a:t>go here</a:t>
            </a:r>
            <a:r>
              <a:rPr b="1" lang="en" sz="1200"/>
              <a:t> and try to get to level 20 at least.</a:t>
            </a:r>
            <a:endParaRPr b="1" sz="1200"/>
          </a:p>
          <a:p>
            <a:pPr indent="0" lvl="0" marL="0" rtl="0" algn="l">
              <a:spcBef>
                <a:spcPts val="1600"/>
              </a:spcBef>
              <a:spcAft>
                <a:spcPts val="0"/>
              </a:spcAft>
              <a:buNone/>
            </a:pPr>
            <a:r>
              <a:rPr lang="en" sz="1200"/>
              <a:t>On the right we have an example where we select items on the list.</a:t>
            </a:r>
            <a:endParaRPr sz="1200"/>
          </a:p>
          <a:p>
            <a:pPr indent="0" lvl="0" marL="0" rtl="0" algn="l">
              <a:spcBef>
                <a:spcPts val="1600"/>
              </a:spcBef>
              <a:spcAft>
                <a:spcPts val="1600"/>
              </a:spcAft>
              <a:buNone/>
            </a:pPr>
            <a:r>
              <a:t/>
            </a:r>
            <a:endParaRPr sz="1200"/>
          </a:p>
        </p:txBody>
      </p:sp>
      <p:sp>
        <p:nvSpPr>
          <p:cNvPr id="122" name="Google Shape;122;p22"/>
          <p:cNvSpPr txBox="1"/>
          <p:nvPr/>
        </p:nvSpPr>
        <p:spPr>
          <a:xfrm>
            <a:off x="4805725" y="2759125"/>
            <a:ext cx="4168500" cy="198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Example JS</a:t>
            </a:r>
            <a:endParaRPr sz="7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F06292"/>
                </a:solidFill>
                <a:latin typeface="Roboto Mono"/>
                <a:ea typeface="Roboto Mono"/>
                <a:cs typeface="Roboto Mono"/>
                <a:sym typeface="Roboto Mono"/>
              </a:rPr>
              <a:t>// select the first list item</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firstItem = </a:t>
            </a:r>
            <a:r>
              <a:rPr lang="en" sz="950">
                <a:solidFill>
                  <a:srgbClr val="FBC02D"/>
                </a:solidFill>
                <a:latin typeface="Roboto Mono"/>
                <a:ea typeface="Roboto Mono"/>
                <a:cs typeface="Roboto Mono"/>
                <a:sym typeface="Roboto Mono"/>
              </a:rPr>
              <a:t>document</a:t>
            </a:r>
            <a:r>
              <a:rPr lang="en" sz="950">
                <a:solidFill>
                  <a:srgbClr val="ECEFF1"/>
                </a:solidFill>
                <a:latin typeface="Roboto Mono"/>
                <a:ea typeface="Roboto Mono"/>
                <a:cs typeface="Roboto Mono"/>
                <a:sym typeface="Roboto Mono"/>
              </a:rPr>
              <a:t>.querySelector(</a:t>
            </a:r>
            <a:r>
              <a:rPr lang="en" sz="950">
                <a:solidFill>
                  <a:srgbClr val="9CCC65"/>
                </a:solidFill>
                <a:latin typeface="Roboto Mono"/>
                <a:ea typeface="Roboto Mono"/>
                <a:cs typeface="Roboto Mono"/>
                <a:sym typeface="Roboto Mono"/>
              </a:rPr>
              <a:t>"#first-item"</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F06292"/>
                </a:solidFill>
                <a:latin typeface="Roboto Mono"/>
                <a:ea typeface="Roboto Mono"/>
                <a:cs typeface="Roboto Mono"/>
                <a:sym typeface="Roboto Mono"/>
              </a:rPr>
              <a:t>// returns a single item</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F06292"/>
                </a:solidFill>
                <a:latin typeface="Roboto Mono"/>
                <a:ea typeface="Roboto Mono"/>
                <a:cs typeface="Roboto Mono"/>
                <a:sym typeface="Roboto Mono"/>
              </a:rPr>
              <a:t>// select all listitems by class</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allItems = </a:t>
            </a:r>
            <a:r>
              <a:rPr lang="en" sz="950">
                <a:solidFill>
                  <a:srgbClr val="FBC02D"/>
                </a:solidFill>
                <a:latin typeface="Roboto Mono"/>
                <a:ea typeface="Roboto Mono"/>
                <a:cs typeface="Roboto Mono"/>
                <a:sym typeface="Roboto Mono"/>
              </a:rPr>
              <a:t>document</a:t>
            </a:r>
            <a:r>
              <a:rPr lang="en" sz="950">
                <a:solidFill>
                  <a:srgbClr val="ECEFF1"/>
                </a:solidFill>
                <a:latin typeface="Roboto Mono"/>
                <a:ea typeface="Roboto Mono"/>
                <a:cs typeface="Roboto Mono"/>
                <a:sym typeface="Roboto Mono"/>
              </a:rPr>
              <a:t>.querySelectorAll(</a:t>
            </a:r>
            <a:r>
              <a:rPr lang="en" sz="950">
                <a:solidFill>
                  <a:srgbClr val="9CCC65"/>
                </a:solidFill>
                <a:latin typeface="Roboto Mono"/>
                <a:ea typeface="Roboto Mono"/>
                <a:cs typeface="Roboto Mono"/>
                <a:sym typeface="Roboto Mono"/>
              </a:rPr>
              <a:t>".something"</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F06292"/>
                </a:solidFill>
                <a:latin typeface="Roboto Mono"/>
                <a:ea typeface="Roboto Mono"/>
                <a:cs typeface="Roboto Mono"/>
                <a:sym typeface="Roboto Mono"/>
              </a:rPr>
              <a:t>// returns an array of dom elements.</a:t>
            </a:r>
            <a:endParaRPr sz="950">
              <a:solidFill>
                <a:srgbClr val="F06292"/>
              </a:solidFill>
              <a:latin typeface="Roboto Mono"/>
              <a:ea typeface="Roboto Mono"/>
              <a:cs typeface="Roboto Mono"/>
              <a:sym typeface="Roboto Mono"/>
            </a:endParaRPr>
          </a:p>
          <a:p>
            <a:pPr indent="0" lvl="0" marL="0" rtl="0" algn="l">
              <a:lnSpc>
                <a:spcPct val="146739"/>
              </a:lnSpc>
              <a:spcBef>
                <a:spcPts val="0"/>
              </a:spcBef>
              <a:spcAft>
                <a:spcPts val="0"/>
              </a:spcAft>
              <a:buNone/>
            </a:pPr>
            <a:r>
              <a:t/>
            </a:r>
            <a:endParaRPr sz="750">
              <a:solidFill>
                <a:srgbClr val="ECEFF1"/>
              </a:solidFill>
              <a:latin typeface="Roboto Mono"/>
              <a:ea typeface="Roboto Mono"/>
              <a:cs typeface="Roboto Mono"/>
              <a:sym typeface="Roboto Mono"/>
            </a:endParaRPr>
          </a:p>
        </p:txBody>
      </p:sp>
      <p:sp>
        <p:nvSpPr>
          <p:cNvPr id="123" name="Google Shape;123;p22"/>
          <p:cNvSpPr txBox="1"/>
          <p:nvPr/>
        </p:nvSpPr>
        <p:spPr>
          <a:xfrm>
            <a:off x="4805725" y="1221200"/>
            <a:ext cx="43878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Example HTML</a:t>
            </a:r>
            <a:br>
              <a:rPr lang="en" sz="950">
                <a:solidFill>
                  <a:srgbClr val="ECEFF1"/>
                </a:solidFill>
                <a:latin typeface="Roboto Mono"/>
                <a:ea typeface="Roboto Mono"/>
                <a:cs typeface="Roboto Mono"/>
                <a:sym typeface="Roboto Mono"/>
              </a:rPr>
            </a:br>
            <a:r>
              <a:rPr lang="en" sz="950">
                <a:solidFill>
                  <a:srgbClr val="ECEFF1"/>
                </a:solidFill>
                <a:latin typeface="Roboto Mono"/>
                <a:ea typeface="Roboto Mono"/>
                <a:cs typeface="Roboto Mono"/>
                <a:sym typeface="Roboto Mono"/>
              </a:rPr>
              <a:t>&lt;</a:t>
            </a:r>
            <a:r>
              <a:rPr lang="en" sz="950">
                <a:solidFill>
                  <a:srgbClr val="4DD0E1"/>
                </a:solidFill>
                <a:latin typeface="Roboto Mono"/>
                <a:ea typeface="Roboto Mono"/>
                <a:cs typeface="Roboto Mono"/>
                <a:sym typeface="Roboto Mono"/>
              </a:rPr>
              <a:t>ul</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 </a:t>
            </a:r>
            <a:r>
              <a:rPr lang="en" sz="950">
                <a:solidFill>
                  <a:srgbClr val="CE93D8"/>
                </a:solidFill>
                <a:latin typeface="Roboto Mono"/>
                <a:ea typeface="Roboto Mono"/>
                <a:cs typeface="Roboto Mono"/>
                <a:sym typeface="Roboto Mono"/>
              </a:rPr>
              <a:t>id</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first-item</a:t>
            </a:r>
            <a:r>
              <a:rPr lang="en" sz="950">
                <a:solidFill>
                  <a:srgbClr val="ECEFF1"/>
                </a:solidFill>
                <a:latin typeface="Roboto Mono"/>
                <a:ea typeface="Roboto Mono"/>
                <a:cs typeface="Roboto Mono"/>
                <a:sym typeface="Roboto Mono"/>
              </a:rPr>
              <a:t>"</a:t>
            </a:r>
            <a:r>
              <a:rPr lang="en" sz="950">
                <a:solidFill>
                  <a:srgbClr val="4DD0E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class</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something</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the first.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 </a:t>
            </a:r>
            <a:r>
              <a:rPr lang="en" sz="950">
                <a:solidFill>
                  <a:srgbClr val="CE93D8"/>
                </a:solidFill>
                <a:latin typeface="Roboto Mono"/>
                <a:ea typeface="Roboto Mono"/>
                <a:cs typeface="Roboto Mono"/>
                <a:sym typeface="Roboto Mono"/>
              </a:rPr>
              <a:t>id</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second-item</a:t>
            </a:r>
            <a:r>
              <a:rPr lang="en" sz="950">
                <a:solidFill>
                  <a:srgbClr val="ECEFF1"/>
                </a:solidFill>
                <a:latin typeface="Roboto Mono"/>
                <a:ea typeface="Roboto Mono"/>
                <a:cs typeface="Roboto Mono"/>
                <a:sym typeface="Roboto Mono"/>
              </a:rPr>
              <a:t>"</a:t>
            </a:r>
            <a:r>
              <a:rPr lang="en" sz="950">
                <a:solidFill>
                  <a:srgbClr val="4DD0E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class</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something</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the second</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ECEFF1"/>
                </a:solidFill>
                <a:latin typeface="Roboto Mono"/>
                <a:ea typeface="Roboto Mono"/>
                <a:cs typeface="Roboto Mono"/>
                <a:sym typeface="Roboto Mono"/>
              </a:rPr>
              <a:t>&lt;/</a:t>
            </a:r>
            <a:r>
              <a:rPr lang="en" sz="950">
                <a:solidFill>
                  <a:srgbClr val="4DD0E1"/>
                </a:solidFill>
                <a:latin typeface="Roboto Mono"/>
                <a:ea typeface="Roboto Mono"/>
                <a:cs typeface="Roboto Mono"/>
                <a:sym typeface="Roboto Mono"/>
              </a:rPr>
              <a:t>ul</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 Events</a:t>
            </a:r>
            <a:endParaRPr/>
          </a:p>
        </p:txBody>
      </p:sp>
      <p:sp>
        <p:nvSpPr>
          <p:cNvPr id="129" name="Google Shape;129;p23"/>
          <p:cNvSpPr txBox="1"/>
          <p:nvPr>
            <p:ph idx="1" type="body"/>
          </p:nvPr>
        </p:nvSpPr>
        <p:spPr>
          <a:xfrm>
            <a:off x="387900" y="1221200"/>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In JavaScript and web development everything is essentially event based.</a:t>
            </a:r>
            <a:endParaRPr sz="1200"/>
          </a:p>
          <a:p>
            <a:pPr indent="0" lvl="0" marL="0" rtl="0" algn="l">
              <a:spcBef>
                <a:spcPts val="1600"/>
              </a:spcBef>
              <a:spcAft>
                <a:spcPts val="0"/>
              </a:spcAft>
              <a:buNone/>
            </a:pPr>
            <a:r>
              <a:rPr lang="en" sz="1200"/>
              <a:t>You need to understand that in javascript, that even though you don’t have every single event memorized, you need to know how to execute a function based on a user event (and also understanding a bit about the event object).</a:t>
            </a:r>
            <a:endParaRPr sz="1200"/>
          </a:p>
          <a:p>
            <a:pPr indent="0" lvl="0" marL="0" rtl="0" algn="l">
              <a:spcBef>
                <a:spcPts val="1600"/>
              </a:spcBef>
              <a:spcAft>
                <a:spcPts val="0"/>
              </a:spcAft>
              <a:buNone/>
            </a:pPr>
            <a:r>
              <a:rPr lang="en" sz="1200"/>
              <a:t>On the right we have a small example where when you click the button it prints out the “</a:t>
            </a:r>
            <a:r>
              <a:rPr lang="en" sz="950">
                <a:solidFill>
                  <a:srgbClr val="ECEFF1"/>
                </a:solidFill>
                <a:latin typeface="Roboto Mono"/>
                <a:ea typeface="Roboto Mono"/>
                <a:cs typeface="Roboto Mono"/>
                <a:sym typeface="Roboto Mono"/>
              </a:rPr>
              <a:t>event.target</a:t>
            </a:r>
            <a:r>
              <a:rPr lang="en" sz="1200"/>
              <a:t>” which is what element the event is being fired upon, and the message “</a:t>
            </a:r>
            <a:r>
              <a:rPr lang="en" sz="950">
                <a:solidFill>
                  <a:srgbClr val="9CCC65"/>
                </a:solidFill>
                <a:latin typeface="Roboto Mono"/>
                <a:ea typeface="Roboto Mono"/>
                <a:cs typeface="Roboto Mono"/>
                <a:sym typeface="Roboto Mono"/>
              </a:rPr>
              <a:t>"this the action!! Clicked!"</a:t>
            </a:r>
            <a:r>
              <a:rPr lang="en" sz="1200"/>
              <a:t>”</a:t>
            </a:r>
            <a:endParaRPr sz="1200"/>
          </a:p>
          <a:p>
            <a:pPr indent="0" lvl="0" marL="0" rtl="0" algn="l">
              <a:spcBef>
                <a:spcPts val="1600"/>
              </a:spcBef>
              <a:spcAft>
                <a:spcPts val="1600"/>
              </a:spcAft>
              <a:buNone/>
            </a:pPr>
            <a:r>
              <a:rPr lang="en" sz="1200"/>
              <a:t>All of these pieces should be understood.</a:t>
            </a:r>
            <a:endParaRPr sz="1200"/>
          </a:p>
        </p:txBody>
      </p:sp>
      <p:sp>
        <p:nvSpPr>
          <p:cNvPr id="130" name="Google Shape;130;p23"/>
          <p:cNvSpPr txBox="1"/>
          <p:nvPr/>
        </p:nvSpPr>
        <p:spPr>
          <a:xfrm>
            <a:off x="4805725" y="1144125"/>
            <a:ext cx="3950400" cy="7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Example HTML</a:t>
            </a:r>
            <a:br>
              <a:rPr lang="en" sz="1200">
                <a:solidFill>
                  <a:schemeClr val="dk1"/>
                </a:solidFill>
                <a:latin typeface="Roboto"/>
                <a:ea typeface="Roboto"/>
                <a:cs typeface="Roboto"/>
                <a:sym typeface="Roboto"/>
              </a:rPr>
            </a:b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&lt;</a:t>
            </a:r>
            <a:r>
              <a:rPr lang="en" sz="950">
                <a:solidFill>
                  <a:srgbClr val="4DD0E1"/>
                </a:solidFill>
                <a:latin typeface="Roboto Mono"/>
                <a:ea typeface="Roboto Mono"/>
                <a:cs typeface="Roboto Mono"/>
                <a:sym typeface="Roboto Mono"/>
              </a:rPr>
              <a:t>button</a:t>
            </a:r>
            <a:r>
              <a:rPr lang="en" sz="950">
                <a:solidFill>
                  <a:srgbClr val="ECEFF1"/>
                </a:solidFill>
                <a:latin typeface="Roboto Mono"/>
                <a:ea typeface="Roboto Mono"/>
                <a:cs typeface="Roboto Mono"/>
                <a:sym typeface="Roboto Mono"/>
              </a:rPr>
              <a:t>&gt;Click this button&lt;/</a:t>
            </a:r>
            <a:r>
              <a:rPr lang="en" sz="950">
                <a:solidFill>
                  <a:srgbClr val="4DD0E1"/>
                </a:solidFill>
                <a:latin typeface="Roboto Mono"/>
                <a:ea typeface="Roboto Mono"/>
                <a:cs typeface="Roboto Mono"/>
                <a:sym typeface="Roboto Mono"/>
              </a:rPr>
              <a:t>button</a:t>
            </a:r>
            <a:r>
              <a:rPr lang="en" sz="950">
                <a:solidFill>
                  <a:srgbClr val="ECEFF1"/>
                </a:solidFill>
                <a:latin typeface="Roboto Mono"/>
                <a:ea typeface="Roboto Mono"/>
                <a:cs typeface="Roboto Mono"/>
                <a:sym typeface="Roboto Mono"/>
              </a:rPr>
              <a:t>&gt;</a:t>
            </a:r>
            <a:endParaRPr sz="750">
              <a:solidFill>
                <a:srgbClr val="ECEFF1"/>
              </a:solidFill>
              <a:latin typeface="Roboto Mono"/>
              <a:ea typeface="Roboto Mono"/>
              <a:cs typeface="Roboto Mono"/>
              <a:sym typeface="Roboto Mono"/>
            </a:endParaRPr>
          </a:p>
        </p:txBody>
      </p:sp>
      <p:sp>
        <p:nvSpPr>
          <p:cNvPr id="131" name="Google Shape;131;p23"/>
          <p:cNvSpPr txBox="1"/>
          <p:nvPr/>
        </p:nvSpPr>
        <p:spPr>
          <a:xfrm>
            <a:off x="4805725" y="1873150"/>
            <a:ext cx="3892200" cy="270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Example JS</a:t>
            </a:r>
            <a:br>
              <a:rPr lang="en" sz="1200">
                <a:solidFill>
                  <a:schemeClr val="dk1"/>
                </a:solidFill>
                <a:latin typeface="Roboto"/>
                <a:ea typeface="Roboto"/>
                <a:cs typeface="Roboto"/>
                <a:sym typeface="Roboto"/>
              </a:rPr>
            </a:br>
            <a:br>
              <a:rPr lang="en" sz="950">
                <a:solidFill>
                  <a:srgbClr val="4DD0E1"/>
                </a:solidFill>
                <a:latin typeface="Roboto Mono"/>
                <a:ea typeface="Roboto Mono"/>
                <a:cs typeface="Roboto Mono"/>
                <a:sym typeface="Roboto Mono"/>
              </a:rPr>
            </a:b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button = </a:t>
            </a:r>
            <a:r>
              <a:rPr lang="en" sz="950">
                <a:solidFill>
                  <a:srgbClr val="FBC02D"/>
                </a:solidFill>
                <a:latin typeface="Roboto Mono"/>
                <a:ea typeface="Roboto Mono"/>
                <a:cs typeface="Roboto Mono"/>
                <a:sym typeface="Roboto Mono"/>
              </a:rPr>
              <a:t>document</a:t>
            </a:r>
            <a:r>
              <a:rPr lang="en" sz="950">
                <a:solidFill>
                  <a:srgbClr val="ECEFF1"/>
                </a:solidFill>
                <a:latin typeface="Roboto Mono"/>
                <a:ea typeface="Roboto Mono"/>
                <a:cs typeface="Roboto Mono"/>
                <a:sym typeface="Roboto Mono"/>
              </a:rPr>
              <a:t>.querySelector(</a:t>
            </a:r>
            <a:r>
              <a:rPr lang="en" sz="950">
                <a:solidFill>
                  <a:srgbClr val="9CCC65"/>
                </a:solidFill>
                <a:latin typeface="Roboto Mono"/>
                <a:ea typeface="Roboto Mono"/>
                <a:cs typeface="Roboto Mono"/>
                <a:sym typeface="Roboto Mono"/>
              </a:rPr>
              <a:t>"button"</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this is the event handler.</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the "event" is a parameter that javascript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will pass in.</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4DD0E1"/>
                </a:solidFill>
                <a:latin typeface="Roboto Mono"/>
                <a:ea typeface="Roboto Mono"/>
                <a:cs typeface="Roboto Mono"/>
                <a:sym typeface="Roboto Mono"/>
              </a:rPr>
              <a:t>function</a:t>
            </a:r>
            <a:r>
              <a:rPr lang="en" sz="950">
                <a:solidFill>
                  <a:srgbClr val="ECEFF1"/>
                </a:solidFill>
                <a:latin typeface="Roboto Mono"/>
                <a:ea typeface="Roboto Mono"/>
                <a:cs typeface="Roboto Mono"/>
                <a:sym typeface="Roboto Mono"/>
              </a:rPr>
              <a:t> eventHandler(event)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F06292"/>
                </a:solidFill>
                <a:latin typeface="Roboto Mono"/>
                <a:ea typeface="Roboto Mono"/>
                <a:cs typeface="Roboto Mono"/>
                <a:sym typeface="Roboto Mono"/>
              </a:rPr>
              <a:t>// the event.target is the element itself.</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.log(event.target)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a:t>
            </a:r>
            <a:r>
              <a:rPr lang="en" sz="950">
                <a:solidFill>
                  <a:srgbClr val="9CCC65"/>
                </a:solidFill>
                <a:latin typeface="Roboto Mono"/>
                <a:ea typeface="Roboto Mono"/>
                <a:cs typeface="Roboto Mono"/>
                <a:sym typeface="Roboto Mono"/>
              </a:rPr>
              <a:t>"this the action!! Clicked!"</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below we are listening to "click" events</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on the button variable</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and executing the "eventHandler" function</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when the user clicks</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ECEFF1"/>
                </a:solidFill>
                <a:latin typeface="Roboto Mono"/>
                <a:ea typeface="Roboto Mono"/>
                <a:cs typeface="Roboto Mono"/>
                <a:sym typeface="Roboto Mono"/>
              </a:rPr>
              <a:t>button.addEventListener(</a:t>
            </a:r>
            <a:r>
              <a:rPr lang="en" sz="950">
                <a:solidFill>
                  <a:srgbClr val="9CCC65"/>
                </a:solidFill>
                <a:latin typeface="Roboto Mono"/>
                <a:ea typeface="Roboto Mono"/>
                <a:cs typeface="Roboto Mono"/>
                <a:sym typeface="Roboto Mono"/>
              </a:rPr>
              <a:t>"click"</a:t>
            </a:r>
            <a:r>
              <a:rPr lang="en" sz="950">
                <a:solidFill>
                  <a:srgbClr val="ECEFF1"/>
                </a:solidFill>
                <a:latin typeface="Roboto Mono"/>
                <a:ea typeface="Roboto Mono"/>
                <a:cs typeface="Roboto Mono"/>
                <a:sym typeface="Roboto Mono"/>
              </a:rPr>
              <a:t>, eventHandler);</a:t>
            </a:r>
            <a:endParaRPr sz="950">
              <a:solidFill>
                <a:srgbClr val="ECEFF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 Arrays and Loops</a:t>
            </a:r>
            <a:endParaRPr/>
          </a:p>
        </p:txBody>
      </p:sp>
      <p:sp>
        <p:nvSpPr>
          <p:cNvPr id="137" name="Google Shape;137;p24"/>
          <p:cNvSpPr txBox="1"/>
          <p:nvPr>
            <p:ph idx="1" type="body"/>
          </p:nvPr>
        </p:nvSpPr>
        <p:spPr>
          <a:xfrm>
            <a:off x="387900" y="1221200"/>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Arrays and loops in this course are going to be very important in code, but also how we use “components” (more on that later) in our rending of or applications.</a:t>
            </a:r>
            <a:endParaRPr sz="1200"/>
          </a:p>
          <a:p>
            <a:pPr indent="0" lvl="0" marL="0" rtl="0" algn="l">
              <a:spcBef>
                <a:spcPts val="1600"/>
              </a:spcBef>
              <a:spcAft>
                <a:spcPts val="0"/>
              </a:spcAft>
              <a:buNone/>
            </a:pPr>
            <a:r>
              <a:rPr lang="en" sz="1200"/>
              <a:t>You need to understand that arrays have indexes that begin at zero</a:t>
            </a:r>
            <a:endParaRPr sz="1200"/>
          </a:p>
          <a:p>
            <a:pPr indent="0" lvl="0" marL="0" rtl="0" algn="l">
              <a:spcBef>
                <a:spcPts val="1600"/>
              </a:spcBef>
              <a:spcAft>
                <a:spcPts val="0"/>
              </a:spcAft>
              <a:buNone/>
            </a:pPr>
            <a:r>
              <a:rPr lang="en" sz="1200"/>
              <a:t>We’ll be using “</a:t>
            </a:r>
            <a:r>
              <a:rPr lang="en" sz="950">
                <a:solidFill>
                  <a:srgbClr val="ECEFF1"/>
                </a:solidFill>
                <a:latin typeface="Roboto Mono"/>
                <a:ea typeface="Roboto Mono"/>
                <a:cs typeface="Roboto Mono"/>
                <a:sym typeface="Roboto Mono"/>
              </a:rPr>
              <a:t>map</a:t>
            </a:r>
            <a:r>
              <a:rPr lang="en" sz="1200"/>
              <a:t>” which loops over each item and returns a new array with modified values. You can use </a:t>
            </a:r>
            <a:r>
              <a:rPr lang="en" sz="1200"/>
              <a:t>“</a:t>
            </a:r>
            <a:r>
              <a:rPr lang="en" sz="950">
                <a:solidFill>
                  <a:srgbClr val="ECEFF1"/>
                </a:solidFill>
                <a:latin typeface="Roboto Mono"/>
                <a:ea typeface="Roboto Mono"/>
                <a:cs typeface="Roboto Mono"/>
                <a:sym typeface="Roboto Mono"/>
              </a:rPr>
              <a:t>map</a:t>
            </a:r>
            <a:r>
              <a:rPr lang="en" sz="1200"/>
              <a:t>” instead of </a:t>
            </a:r>
            <a:r>
              <a:rPr lang="en" sz="1200"/>
              <a:t>“</a:t>
            </a:r>
            <a:r>
              <a:rPr lang="en" sz="950">
                <a:solidFill>
                  <a:srgbClr val="ECEFF1"/>
                </a:solidFill>
                <a:latin typeface="Roboto Mono"/>
                <a:ea typeface="Roboto Mono"/>
                <a:cs typeface="Roboto Mono"/>
                <a:sym typeface="Roboto Mono"/>
              </a:rPr>
              <a:t>forEach</a:t>
            </a:r>
            <a:r>
              <a:rPr lang="en" sz="1200"/>
              <a:t>” in all cases.</a:t>
            </a:r>
            <a:endParaRPr sz="1200"/>
          </a:p>
          <a:p>
            <a:pPr indent="0" lvl="0" marL="0" rtl="0" algn="l">
              <a:spcBef>
                <a:spcPts val="1600"/>
              </a:spcBef>
              <a:spcAft>
                <a:spcPts val="0"/>
              </a:spcAft>
              <a:buNone/>
            </a:pPr>
            <a:r>
              <a:rPr lang="en" sz="1200"/>
              <a:t>We’ll be using “</a:t>
            </a:r>
            <a:r>
              <a:rPr lang="en" sz="950">
                <a:solidFill>
                  <a:srgbClr val="ECEFF1"/>
                </a:solidFill>
                <a:latin typeface="Roboto Mono"/>
                <a:ea typeface="Roboto Mono"/>
                <a:cs typeface="Roboto Mono"/>
                <a:sym typeface="Roboto Mono"/>
              </a:rPr>
              <a:t>filter</a:t>
            </a:r>
            <a:r>
              <a:rPr lang="en" sz="1200"/>
              <a:t>” which loops over each item and returns a subset of the array. The callback function returns true or false, true if you’d like to keep it, false if you want to remove it from the subset. </a:t>
            </a:r>
            <a:endParaRPr sz="1200"/>
          </a:p>
          <a:p>
            <a:pPr indent="0" lvl="0" marL="0" rtl="0" algn="l">
              <a:spcBef>
                <a:spcPts val="1600"/>
              </a:spcBef>
              <a:spcAft>
                <a:spcPts val="1600"/>
              </a:spcAft>
              <a:buNone/>
            </a:pPr>
            <a:r>
              <a:t/>
            </a:r>
            <a:endParaRPr sz="1200"/>
          </a:p>
        </p:txBody>
      </p:sp>
      <p:sp>
        <p:nvSpPr>
          <p:cNvPr id="138" name="Google Shape;138;p24"/>
          <p:cNvSpPr txBox="1"/>
          <p:nvPr/>
        </p:nvSpPr>
        <p:spPr>
          <a:xfrm>
            <a:off x="4433850" y="1221200"/>
            <a:ext cx="4756200" cy="354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arrays are defined like this.</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cats = [</a:t>
            </a:r>
            <a:r>
              <a:rPr lang="en" sz="950">
                <a:solidFill>
                  <a:srgbClr val="9CCC65"/>
                </a:solidFill>
                <a:latin typeface="Roboto Mono"/>
                <a:ea typeface="Roboto Mono"/>
                <a:cs typeface="Roboto Mono"/>
                <a:sym typeface="Roboto Mono"/>
              </a:rPr>
              <a:t>"Ghost"</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"Gambit"</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"Marshmallow"</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items are accessed with an index</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which starts at 0</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gambitCat = cats[</a:t>
            </a:r>
            <a:r>
              <a:rPr lang="en" sz="950">
                <a:solidFill>
                  <a:srgbClr val="FBC02D"/>
                </a:solidFill>
                <a:latin typeface="Roboto Mono"/>
                <a:ea typeface="Roboto Mono"/>
                <a:cs typeface="Roboto Mono"/>
                <a:sym typeface="Roboto Mono"/>
              </a:rPr>
              <a:t>1</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loops go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map returns an array of each item modified</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in the call back you can return the new</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modified value</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upperCaseCats = cats.map((cat)=&gt;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cat.toUpperCase()</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upperCaseCats is ['GHOST', 'GAMBIT', 'MARSHMALLOW']</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filter returns a subset of the array</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F06292"/>
                </a:solidFill>
                <a:latin typeface="Roboto Mono"/>
                <a:ea typeface="Roboto Mono"/>
                <a:cs typeface="Roboto Mono"/>
                <a:sym typeface="Roboto Mono"/>
              </a:rPr>
              <a:t>// you need to return true or false in the callback</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catsNamesWithT = cats.filter((cat)=&gt; {</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cat.includes(</a:t>
            </a:r>
            <a:r>
              <a:rPr lang="en" sz="950">
                <a:solidFill>
                  <a:srgbClr val="9CCC65"/>
                </a:solidFill>
                <a:latin typeface="Roboto Mono"/>
                <a:ea typeface="Roboto Mono"/>
                <a:cs typeface="Roboto Mono"/>
                <a:sym typeface="Roboto Mono"/>
              </a:rPr>
              <a:t>"t"</a:t>
            </a:r>
            <a:r>
              <a:rPr lang="en" sz="950">
                <a:solidFill>
                  <a:srgbClr val="ECEFF1"/>
                </a:solidFill>
                <a:latin typeface="Roboto Mono"/>
                <a:ea typeface="Roboto Mono"/>
                <a:cs typeface="Roboto Mono"/>
                <a:sym typeface="Roboto Mono"/>
              </a:rPr>
              <a:t>) </a:t>
            </a:r>
            <a:r>
              <a:rPr lang="en" sz="950">
                <a:solidFill>
                  <a:srgbClr val="F06292"/>
                </a:solidFill>
                <a:latin typeface="Roboto Mono"/>
                <a:ea typeface="Roboto Mono"/>
                <a:cs typeface="Roboto Mono"/>
                <a:sym typeface="Roboto Mono"/>
              </a:rPr>
              <a:t>//.includes returns true or false</a:t>
            </a:r>
            <a:endParaRPr sz="9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950">
                <a:solidFill>
                  <a:srgbClr val="F06292"/>
                </a:solidFill>
                <a:latin typeface="Roboto Mono"/>
                <a:ea typeface="Roboto Mono"/>
                <a:cs typeface="Roboto Mono"/>
                <a:sym typeface="Roboto Mono"/>
              </a:rPr>
              <a:t>// catsNamesWithT is  ['Ghost', 'Gambit']</a:t>
            </a:r>
            <a:endParaRPr sz="950">
              <a:solidFill>
                <a:srgbClr val="F06292"/>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Extra</a:t>
            </a:r>
            <a:r>
              <a:rPr lang="en"/>
              <a:t> Note</a:t>
            </a:r>
            <a:r>
              <a:rPr lang="en"/>
              <a:t> - ES6 IIFE</a:t>
            </a:r>
            <a:endParaRPr/>
          </a:p>
        </p:txBody>
      </p:sp>
      <p:sp>
        <p:nvSpPr>
          <p:cNvPr id="144" name="Google Shape;144;p2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all bindings (defined variables, functions and any other definition with let and const) only live within a block (within “</a:t>
            </a:r>
            <a:r>
              <a:rPr lang="en" sz="1150">
                <a:solidFill>
                  <a:srgbClr val="ECEFF1"/>
                </a:solidFill>
                <a:latin typeface="Roboto Mono"/>
                <a:ea typeface="Roboto Mono"/>
                <a:cs typeface="Roboto Mono"/>
                <a:sym typeface="Roboto Mono"/>
              </a:rPr>
              <a:t>{}</a:t>
            </a:r>
            <a:r>
              <a:rPr lang="en"/>
              <a:t>”). </a:t>
            </a:r>
            <a:endParaRPr/>
          </a:p>
          <a:p>
            <a:pPr indent="0" lvl="0" marL="0" rtl="0" algn="l">
              <a:spcBef>
                <a:spcPts val="1600"/>
              </a:spcBef>
              <a:spcAft>
                <a:spcPts val="0"/>
              </a:spcAft>
              <a:buNone/>
            </a:pPr>
            <a:r>
              <a:rPr lang="en"/>
              <a:t>We can simplify IIFEs to define everything by putting everything within parentheses.</a:t>
            </a:r>
            <a:endParaRPr/>
          </a:p>
          <a:p>
            <a:pPr indent="0" lvl="0" marL="0" rtl="0" algn="l">
              <a:spcBef>
                <a:spcPts val="1600"/>
              </a:spcBef>
              <a:spcAft>
                <a:spcPts val="0"/>
              </a:spcAft>
              <a:buNone/>
            </a:pPr>
            <a:r>
              <a:rPr b="1" lang="en"/>
              <a:t>Important:</a:t>
            </a:r>
            <a:endParaRPr/>
          </a:p>
          <a:p>
            <a:pPr indent="0" lvl="0" marL="0" rtl="0" algn="l">
              <a:spcBef>
                <a:spcPts val="1600"/>
              </a:spcBef>
              <a:spcAft>
                <a:spcPts val="1600"/>
              </a:spcAft>
              <a:buNone/>
            </a:pPr>
            <a:r>
              <a:rPr lang="en"/>
              <a:t>IIFEs aren’t necessary in ES6 but you might have to use them so that, when we convert (or transpile) our code into ES5, an IIFE is used. More on this in a few lectures when we discuss babel (the transpiler).</a:t>
            </a:r>
            <a:endParaRPr/>
          </a:p>
        </p:txBody>
      </p:sp>
      <p:sp>
        <p:nvSpPr>
          <p:cNvPr id="145" name="Google Shape;145;p25"/>
          <p:cNvSpPr txBox="1"/>
          <p:nvPr/>
        </p:nvSpPr>
        <p:spPr>
          <a:xfrm>
            <a:off x="4387800" y="1489825"/>
            <a:ext cx="4684500" cy="25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privateVariable = </a:t>
            </a:r>
            <a:r>
              <a:rPr lang="en" sz="1150">
                <a:solidFill>
                  <a:srgbClr val="9CCC65"/>
                </a:solidFill>
                <a:latin typeface="Roboto Mono"/>
                <a:ea typeface="Roboto Mono"/>
                <a:cs typeface="Roboto Mono"/>
                <a:sym typeface="Roboto Mono"/>
              </a:rPr>
              <a:t>"super secret."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somethingPublic = </a:t>
            </a:r>
            <a:r>
              <a:rPr lang="en" sz="1150">
                <a:solidFill>
                  <a:srgbClr val="9CCC65"/>
                </a:solidFill>
                <a:latin typeface="Roboto Mono"/>
                <a:ea typeface="Roboto Mono"/>
                <a:cs typeface="Roboto Mono"/>
                <a:sym typeface="Roboto Mono"/>
              </a:rPr>
              <a:t>"Hi dan"</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console.log(`look here: ${somethingPublic}`);</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output: look here: Hi Dan</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Note: if you try to access "somethingPublic", or</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"privateVariable" it will give you an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undefined variable error which is ideal!</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example: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console.log(privateVariable);</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F06292"/>
                </a:solidFill>
                <a:latin typeface="Roboto Mono"/>
                <a:ea typeface="Roboto Mono"/>
                <a:cs typeface="Roboto Mono"/>
                <a:sym typeface="Roboto Mono"/>
              </a:rPr>
              <a:t>// gives an error.</a:t>
            </a:r>
            <a:endParaRPr sz="1150">
              <a:solidFill>
                <a:srgbClr val="F06292"/>
              </a:solidFill>
              <a:latin typeface="Roboto Mono"/>
              <a:ea typeface="Roboto Mono"/>
              <a:cs typeface="Roboto Mono"/>
              <a:sym typeface="Roboto Mono"/>
            </a:endParaRPr>
          </a:p>
        </p:txBody>
      </p:sp>
      <p:sp>
        <p:nvSpPr>
          <p:cNvPr id="146" name="Google Shape;146;p25"/>
          <p:cNvSpPr txBox="1"/>
          <p:nvPr/>
        </p:nvSpPr>
        <p:spPr>
          <a:xfrm>
            <a:off x="5756950" y="4225825"/>
            <a:ext cx="1036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Roboto"/>
                <a:ea typeface="Roboto"/>
                <a:cs typeface="Roboto"/>
                <a:sym typeface="Roboto"/>
                <a:hlinkClick r:id="rId3"/>
              </a:rPr>
              <a:t>Live Demo</a:t>
            </a:r>
            <a:endParaRPr>
              <a:solidFill>
                <a:srgbClr val="FFFFF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Example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 </a:t>
            </a:r>
            <a:endParaRPr/>
          </a:p>
        </p:txBody>
      </p:sp>
      <p:sp>
        <p:nvSpPr>
          <p:cNvPr id="157" name="Google Shape;157;p27"/>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Exploring ES6 chapters 1-3:</a:t>
            </a:r>
            <a:br>
              <a:rPr lang="en"/>
            </a:br>
            <a:r>
              <a:rPr lang="en" u="sng">
                <a:solidFill>
                  <a:schemeClr val="hlink"/>
                </a:solidFill>
                <a:hlinkClick r:id="rId3"/>
              </a:rPr>
              <a:t>https://exploringjs.com/es6/</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